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7"/>
  </p:notesMasterIdLst>
  <p:handoutMasterIdLst>
    <p:handoutMasterId r:id="rId58"/>
  </p:handoutMasterIdLst>
  <p:sldIdLst>
    <p:sldId id="256" r:id="rId3"/>
    <p:sldId id="257" r:id="rId4"/>
    <p:sldId id="273" r:id="rId5"/>
    <p:sldId id="274" r:id="rId6"/>
    <p:sldId id="275" r:id="rId7"/>
    <p:sldId id="276" r:id="rId8"/>
    <p:sldId id="277" r:id="rId9"/>
    <p:sldId id="278" r:id="rId10"/>
    <p:sldId id="293" r:id="rId11"/>
    <p:sldId id="294" r:id="rId12"/>
    <p:sldId id="301" r:id="rId13"/>
    <p:sldId id="302" r:id="rId14"/>
    <p:sldId id="313" r:id="rId15"/>
    <p:sldId id="303" r:id="rId16"/>
    <p:sldId id="304" r:id="rId17"/>
    <p:sldId id="305" r:id="rId18"/>
    <p:sldId id="306" r:id="rId19"/>
    <p:sldId id="314" r:id="rId20"/>
    <p:sldId id="315" r:id="rId21"/>
    <p:sldId id="307" r:id="rId22"/>
    <p:sldId id="308" r:id="rId23"/>
    <p:sldId id="309" r:id="rId24"/>
    <p:sldId id="310" r:id="rId25"/>
    <p:sldId id="311" r:id="rId26"/>
    <p:sldId id="312" r:id="rId27"/>
    <p:sldId id="272" r:id="rId28"/>
    <p:sldId id="258" r:id="rId29"/>
    <p:sldId id="259" r:id="rId30"/>
    <p:sldId id="261" r:id="rId31"/>
    <p:sldId id="262" r:id="rId32"/>
    <p:sldId id="263" r:id="rId33"/>
    <p:sldId id="264" r:id="rId34"/>
    <p:sldId id="265" r:id="rId35"/>
    <p:sldId id="266" r:id="rId36"/>
    <p:sldId id="267" r:id="rId37"/>
    <p:sldId id="268" r:id="rId38"/>
    <p:sldId id="269" r:id="rId39"/>
    <p:sldId id="270" r:id="rId40"/>
    <p:sldId id="271" r:id="rId41"/>
    <p:sldId id="279" r:id="rId42"/>
    <p:sldId id="280" r:id="rId43"/>
    <p:sldId id="281" r:id="rId44"/>
    <p:sldId id="282" r:id="rId45"/>
    <p:sldId id="283" r:id="rId46"/>
    <p:sldId id="284" r:id="rId47"/>
    <p:sldId id="285" r:id="rId48"/>
    <p:sldId id="286" r:id="rId49"/>
    <p:sldId id="287" r:id="rId50"/>
    <p:sldId id="288" r:id="rId51"/>
    <p:sldId id="289" r:id="rId52"/>
    <p:sldId id="290" r:id="rId53"/>
    <p:sldId id="291" r:id="rId54"/>
    <p:sldId id="292" r:id="rId55"/>
    <p:sldId id="316" r:id="rId56"/>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517A"/>
    <a:srgbClr val="11AD57"/>
    <a:srgbClr val="B2B2B2"/>
    <a:srgbClr val="202020"/>
    <a:srgbClr val="323232"/>
    <a:srgbClr val="CC3300"/>
    <a:srgbClr val="CC0000"/>
    <a:srgbClr val="FF3300"/>
    <a:srgbClr val="990000"/>
    <a:srgbClr val="FF8D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60"/>
        <p:guide pos="3874"/>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4.xml"/><Relationship Id="rId59" Type="http://schemas.openxmlformats.org/officeDocument/2006/relationships/presProps" Target="presProps.xml"/><Relationship Id="rId58" Type="http://schemas.openxmlformats.org/officeDocument/2006/relationships/handoutMaster" Target="handoutMasters/handoutMaster1.xml"/><Relationship Id="rId57" Type="http://schemas.openxmlformats.org/officeDocument/2006/relationships/notesMaster" Target="notesMasters/notesMaster1.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sym typeface="+mn-ea"/>
              </a:rPr>
              <a:t>Click to edit Master title style</a:t>
            </a:r>
            <a:endParaRPr lang="zh-CN" altLang="en-US" dirty="0">
              <a:sym typeface="+mn-ea"/>
            </a:endParaRPr>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Click to edit Master subtitle style</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0945"/>
            <a:ext cx="9848088" cy="811530"/>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sym typeface="+mn-ea"/>
              </a:rPr>
              <a:t>Click to edit Master text styles</a:t>
            </a:r>
            <a:endParaRPr lang="zh-CN" altLang="en-US" dirty="0">
              <a:sym typeface="+mn-ea"/>
            </a:endParaRPr>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Click to edit Master title style</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endParaRPr lang="zh-CN" altLang="en-US" dirty="0">
              <a:sym typeface="+mn-ea"/>
            </a:endParaRPr>
          </a:p>
        </p:txBody>
      </p:sp>
      <p:sp>
        <p:nvSpPr>
          <p:cNvPr id="4" name="内容占位符 3"/>
          <p:cNvSpPr>
            <a:spLocks noGrp="1"/>
          </p:cNvSpPr>
          <p:nvPr>
            <p:ph sz="half" idx="2"/>
          </p:nvPr>
        </p:nvSpPr>
        <p:spPr>
          <a:xfrm>
            <a:off x="839788" y="2615609"/>
            <a:ext cx="5157787" cy="3574054"/>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endParaRPr lang="zh-CN" altLang="en-US" dirty="0">
              <a:sym typeface="+mn-ea"/>
            </a:endParaRP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p:cNvSpPr>
            <a:spLocks noGrp="1"/>
          </p:cNvSpPr>
          <p:nvPr>
            <p:ph type="title"/>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sym typeface="+mn-ea"/>
              </a:rPr>
              <a:t>Click to edit Master title style</a:t>
            </a:r>
            <a:endParaRPr lang="zh-CN" altLang="en-US" dirty="0">
              <a:sym typeface="+mn-ea"/>
            </a:endParaRP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Click to edit Master text styles</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cxnSp>
        <p:nvCxnSpPr>
          <p:cNvPr id="8" name="直接连接符 7" hidden="1"/>
          <p:cNvCxnSpPr/>
          <p:nvPr userDrawn="1"/>
        </p:nvCxnSpPr>
        <p:spPr>
          <a:xfrm>
            <a:off x="742950" y="434340"/>
            <a:ext cx="0" cy="139128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Click to edit Master title style</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Click to edit Master title style</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398145"/>
            <a:ext cx="10100310" cy="3111500"/>
          </a:xfrm>
        </p:spPr>
        <p:txBody>
          <a:bodyPr>
            <a:normAutofit fontScale="90000"/>
          </a:bodyPr>
          <a:lstStyle/>
          <a:p>
            <a:r>
              <a:rPr lang="zh-CN" altLang="en-US">
                <a:solidFill>
                  <a:srgbClr val="FF0000"/>
                </a:solidFill>
              </a:rPr>
              <a:t>Strengthening Programming Skills through Problem-Solving and Case-Based Learning</a:t>
            </a:r>
            <a:endParaRPr lang="zh-CN" altLang="en-US">
              <a:solidFill>
                <a:srgbClr val="FF0000"/>
              </a:solidFill>
            </a:endParaRPr>
          </a:p>
        </p:txBody>
      </p:sp>
      <p:sp>
        <p:nvSpPr>
          <p:cNvPr id="5" name="副标题 4"/>
          <p:cNvSpPr>
            <a:spLocks noGrp="1"/>
          </p:cNvSpPr>
          <p:nvPr>
            <p:ph type="subTitle" idx="1"/>
          </p:nvPr>
        </p:nvSpPr>
        <p:spPr>
          <a:xfrm>
            <a:off x="1524000" y="4484370"/>
            <a:ext cx="9144000" cy="1450340"/>
          </a:xfrm>
        </p:spPr>
        <p:txBody>
          <a:bodyPr/>
          <a:lstStyle/>
          <a:p>
            <a:endParaRPr lang="en-US" altLang="zh-CN" sz="3200" b="1"/>
          </a:p>
          <a:p>
            <a:r>
              <a:rPr lang="en-US" altLang="zh-CN" sz="3200" b="1"/>
              <a:t>Dr M Janaki Meena</a:t>
            </a:r>
            <a:endParaRPr lang="en-US" altLang="zh-CN" sz="32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FF0000"/>
                </a:solidFill>
              </a:rPr>
              <a:t>Tweaking Insertion Sort</a:t>
            </a:r>
            <a:endParaRPr lang="en-US" sz="4000">
              <a:solidFill>
                <a:srgbClr val="FF0000"/>
              </a:solidFill>
            </a:endParaRPr>
          </a:p>
        </p:txBody>
      </p:sp>
      <p:sp>
        <p:nvSpPr>
          <p:cNvPr id="3" name="Content Placeholder 2"/>
          <p:cNvSpPr>
            <a:spLocks noGrp="1"/>
          </p:cNvSpPr>
          <p:nvPr>
            <p:ph idx="1"/>
          </p:nvPr>
        </p:nvSpPr>
        <p:spPr>
          <a:xfrm>
            <a:off x="211455" y="1223010"/>
            <a:ext cx="11793220" cy="5253990"/>
          </a:xfrm>
        </p:spPr>
        <p:txBody>
          <a:bodyPr/>
          <a:p>
            <a:pPr>
              <a:lnSpc>
                <a:spcPct val="140000"/>
              </a:lnSpc>
            </a:pPr>
            <a:r>
              <a:rPr lang="en-US" sz="3600">
                <a:solidFill>
                  <a:srgbClr val="002060"/>
                </a:solidFill>
              </a:rPr>
              <a:t>Given an array of integers, modify the traditional Insertion Sort algorithm such that it sorts only the elements at odd indices (0-based—define clearly), while keeping the elements at even indices unchanged.</a:t>
            </a:r>
            <a:endParaRPr lang="en-US" sz="36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FF0000"/>
                </a:solidFill>
              </a:rPr>
              <a:t>Tweaking Insertion Sort</a:t>
            </a:r>
            <a:endParaRPr lang="en-US" sz="4000">
              <a:solidFill>
                <a:srgbClr val="FF0000"/>
              </a:solidFill>
            </a:endParaRPr>
          </a:p>
        </p:txBody>
      </p:sp>
      <p:sp>
        <p:nvSpPr>
          <p:cNvPr id="3" name="Content Placeholder 2"/>
          <p:cNvSpPr>
            <a:spLocks noGrp="1"/>
          </p:cNvSpPr>
          <p:nvPr>
            <p:ph idx="1"/>
          </p:nvPr>
        </p:nvSpPr>
        <p:spPr>
          <a:xfrm>
            <a:off x="211455" y="1223010"/>
            <a:ext cx="11793220" cy="5253990"/>
          </a:xfrm>
        </p:spPr>
        <p:txBody>
          <a:bodyPr/>
          <a:p>
            <a:pPr>
              <a:lnSpc>
                <a:spcPct val="140000"/>
              </a:lnSpc>
            </a:pPr>
            <a:r>
              <a:rPr lang="en-US" sz="3600">
                <a:solidFill>
                  <a:srgbClr val="002060"/>
                </a:solidFill>
              </a:rPr>
              <a:t>Given an array, sort only the elements whose indices are prime numbers (2, 3, 5, 7, …). All other elements must remain in their original positions.</a:t>
            </a:r>
            <a:endParaRPr lang="en-US" sz="3600">
              <a:solidFill>
                <a:srgbClr val="002060"/>
              </a:solidFill>
            </a:endParaRPr>
          </a:p>
          <a:p>
            <a:pPr>
              <a:lnSpc>
                <a:spcPct val="140000"/>
              </a:lnSpc>
            </a:pPr>
            <a:r>
              <a:rPr lang="en-US" sz="3600">
                <a:solidFill>
                  <a:srgbClr val="002060"/>
                </a:solidFill>
              </a:rPr>
              <a:t>Modify a sorting algorithm to sort only the negative elements in the array, while keeping positive numbers in their original positions.</a:t>
            </a:r>
            <a:endParaRPr lang="en-US" sz="36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FF0000"/>
                </a:solidFill>
              </a:rPr>
              <a:t>Tweaking Insertion Sort</a:t>
            </a:r>
            <a:endParaRPr lang="en-US" sz="4000">
              <a:solidFill>
                <a:srgbClr val="FF0000"/>
              </a:solidFill>
            </a:endParaRPr>
          </a:p>
        </p:txBody>
      </p:sp>
      <p:sp>
        <p:nvSpPr>
          <p:cNvPr id="3" name="Content Placeholder 2"/>
          <p:cNvSpPr>
            <a:spLocks noGrp="1"/>
          </p:cNvSpPr>
          <p:nvPr>
            <p:ph idx="1"/>
          </p:nvPr>
        </p:nvSpPr>
        <p:spPr>
          <a:xfrm>
            <a:off x="211455" y="1223010"/>
            <a:ext cx="11793220" cy="5253990"/>
          </a:xfrm>
        </p:spPr>
        <p:txBody>
          <a:bodyPr/>
          <a:p>
            <a:pPr>
              <a:lnSpc>
                <a:spcPct val="140000"/>
              </a:lnSpc>
            </a:pPr>
            <a:r>
              <a:rPr lang="en-US" sz="3600">
                <a:solidFill>
                  <a:srgbClr val="002060"/>
                </a:solidFill>
              </a:rPr>
              <a:t>Given an integer K, sort only the elements greater than K, keeping all other elements fixed.</a:t>
            </a:r>
            <a:endParaRPr lang="en-US" sz="3600">
              <a:solidFill>
                <a:srgbClr val="002060"/>
              </a:solidFill>
            </a:endParaRPr>
          </a:p>
          <a:p>
            <a:pPr>
              <a:lnSpc>
                <a:spcPct val="140000"/>
              </a:lnSpc>
            </a:pPr>
            <a:r>
              <a:rPr lang="en-US" sz="3600">
                <a:solidFill>
                  <a:srgbClr val="002060"/>
                </a:solidFill>
              </a:rPr>
              <a:t>Sort only elements whose values lie within a given range [L, R], without disturbing other elements.</a:t>
            </a:r>
            <a:endParaRPr lang="en-US" sz="3600">
              <a:solidFill>
                <a:srgbClr val="002060"/>
              </a:solidFill>
            </a:endParaRPr>
          </a:p>
          <a:p>
            <a:pPr>
              <a:lnSpc>
                <a:spcPct val="140000"/>
              </a:lnSpc>
            </a:pPr>
            <a:r>
              <a:rPr lang="en-US" sz="3600">
                <a:solidFill>
                  <a:srgbClr val="002060"/>
                </a:solidFill>
              </a:rPr>
              <a:t>Sort elements at odd indices in ascending order and elements at even indices in descending order, without mixing positions.</a:t>
            </a:r>
            <a:endParaRPr lang="en-US" sz="36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FF0000"/>
                </a:solidFill>
              </a:rPr>
              <a:t>Tweaking Insertion Sort</a:t>
            </a:r>
            <a:endParaRPr lang="en-US" sz="4000">
              <a:solidFill>
                <a:srgbClr val="FF0000"/>
              </a:solidFill>
            </a:endParaRPr>
          </a:p>
        </p:txBody>
      </p:sp>
      <p:sp>
        <p:nvSpPr>
          <p:cNvPr id="3" name="Content Placeholder 2"/>
          <p:cNvSpPr>
            <a:spLocks noGrp="1"/>
          </p:cNvSpPr>
          <p:nvPr>
            <p:ph idx="1"/>
          </p:nvPr>
        </p:nvSpPr>
        <p:spPr>
          <a:xfrm>
            <a:off x="211455" y="1223010"/>
            <a:ext cx="11793220" cy="5253990"/>
          </a:xfrm>
        </p:spPr>
        <p:txBody>
          <a:bodyPr>
            <a:normAutofit fontScale="90000"/>
          </a:bodyPr>
          <a:p>
            <a:pPr>
              <a:lnSpc>
                <a:spcPct val="140000"/>
              </a:lnSpc>
            </a:pPr>
            <a:r>
              <a:rPr lang="en-US" sz="3600">
                <a:solidFill>
                  <a:srgbClr val="002060"/>
                </a:solidFill>
              </a:rPr>
              <a:t>Sort only those elements whose sum of digits is even, leaving others untouched.</a:t>
            </a:r>
            <a:endParaRPr lang="en-US" sz="3600">
              <a:solidFill>
                <a:srgbClr val="002060"/>
              </a:solidFill>
            </a:endParaRPr>
          </a:p>
          <a:p>
            <a:pPr>
              <a:lnSpc>
                <a:spcPct val="140000"/>
              </a:lnSpc>
            </a:pPr>
            <a:r>
              <a:rPr lang="en-US" sz="3600">
                <a:solidFill>
                  <a:srgbClr val="002060"/>
                </a:solidFill>
              </a:rPr>
              <a:t>Sort elements at positions separated by a gap k. (e.g., indices 0, k, 2k, 3k, … form one group and should be sorted independently).</a:t>
            </a:r>
            <a:endParaRPr lang="en-US" sz="3600">
              <a:solidFill>
                <a:srgbClr val="002060"/>
              </a:solidFill>
            </a:endParaRPr>
          </a:p>
          <a:p>
            <a:pPr>
              <a:lnSpc>
                <a:spcPct val="140000"/>
              </a:lnSpc>
            </a:pPr>
            <a:r>
              <a:rPr lang="en-US" sz="3600">
                <a:solidFill>
                  <a:srgbClr val="002060"/>
                </a:solidFill>
              </a:rPr>
              <a:t>Reorder only elements divisible by 3 such that they appear in sorted order, while maintaining the position of all other elements.</a:t>
            </a:r>
            <a:endParaRPr lang="en-US" sz="36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FF0000"/>
                </a:solidFill>
              </a:rPr>
              <a:t>Tweaking Insertion Sort with ML</a:t>
            </a:r>
            <a:endParaRPr lang="en-US" sz="4000">
              <a:solidFill>
                <a:srgbClr val="FF0000"/>
              </a:solidFill>
            </a:endParaRPr>
          </a:p>
        </p:txBody>
      </p:sp>
      <p:sp>
        <p:nvSpPr>
          <p:cNvPr id="3" name="Content Placeholder 2"/>
          <p:cNvSpPr>
            <a:spLocks noGrp="1"/>
          </p:cNvSpPr>
          <p:nvPr>
            <p:ph idx="1"/>
          </p:nvPr>
        </p:nvSpPr>
        <p:spPr>
          <a:xfrm>
            <a:off x="211455" y="1223010"/>
            <a:ext cx="11793220" cy="5253990"/>
          </a:xfrm>
        </p:spPr>
        <p:txBody>
          <a:bodyPr>
            <a:noAutofit/>
          </a:bodyPr>
          <a:p>
            <a:pPr>
              <a:lnSpc>
                <a:spcPct val="140000"/>
              </a:lnSpc>
            </a:pPr>
            <a:r>
              <a:rPr lang="en-US" sz="3200">
                <a:solidFill>
                  <a:srgbClr val="002060"/>
                </a:solidFill>
              </a:rPr>
              <a:t>Input: A multiset of records. Each record has:</a:t>
            </a:r>
            <a:endParaRPr lang="en-US" sz="3200">
              <a:solidFill>
                <a:srgbClr val="002060"/>
              </a:solidFill>
            </a:endParaRPr>
          </a:p>
          <a:p>
            <a:pPr>
              <a:lnSpc>
                <a:spcPct val="140000"/>
              </a:lnSpc>
            </a:pPr>
            <a:r>
              <a:rPr lang="en-US" sz="3200">
                <a:solidFill>
                  <a:srgbClr val="002060"/>
                </a:solidFill>
              </a:rPr>
              <a:t>index — a unique integer identifier for the record (not necessarily contiguous or ordered),</a:t>
            </a:r>
            <a:endParaRPr lang="en-US" sz="3200">
              <a:solidFill>
                <a:srgbClr val="002060"/>
              </a:solidFill>
            </a:endParaRPr>
          </a:p>
          <a:p>
            <a:pPr>
              <a:lnSpc>
                <a:spcPct val="140000"/>
              </a:lnSpc>
            </a:pPr>
            <a:r>
              <a:rPr lang="en-US" sz="3200">
                <a:solidFill>
                  <a:srgbClr val="002060"/>
                </a:solidFill>
              </a:rPr>
              <a:t>actual — the ground-truth value (or label),</a:t>
            </a:r>
            <a:endParaRPr lang="en-US" sz="3200">
              <a:solidFill>
                <a:srgbClr val="002060"/>
              </a:solidFill>
            </a:endParaRPr>
          </a:p>
          <a:p>
            <a:pPr>
              <a:lnSpc>
                <a:spcPct val="140000"/>
              </a:lnSpc>
            </a:pPr>
            <a:r>
              <a:rPr lang="en-US" sz="3200">
                <a:solidFill>
                  <a:srgbClr val="002060"/>
                </a:solidFill>
              </a:rPr>
              <a:t>predicted — the model’s predicted value (or label).</a:t>
            </a:r>
            <a:endParaRPr lang="en-US" sz="3200">
              <a:solidFill>
                <a:srgbClr val="002060"/>
              </a:solidFill>
            </a:endParaRPr>
          </a:p>
          <a:p>
            <a:pPr>
              <a:lnSpc>
                <a:spcPct val="140000"/>
              </a:lnSpc>
            </a:pPr>
            <a:r>
              <a:rPr lang="en-US" sz="3200">
                <a:solidFill>
                  <a:srgbClr val="002060"/>
                </a:solidFill>
              </a:rPr>
              <a:t>Define correctly classified as actual == predicted (extend your definition if you use probabilistic thresholds or multi-label rules).</a:t>
            </a:r>
            <a:endParaRPr lang="en-US" sz="3200">
              <a:solidFill>
                <a:srgbClr val="002060"/>
              </a:solidFill>
            </a:endParaRPr>
          </a:p>
          <a:p>
            <a:pPr>
              <a:lnSpc>
                <a:spcPct val="140000"/>
              </a:lnSpc>
            </a:pPr>
            <a:endParaRPr lang="en-US" sz="3200">
              <a:solidFill>
                <a:srgbClr val="002060"/>
              </a:solidFill>
            </a:endParaRPr>
          </a:p>
          <a:p>
            <a:pPr>
              <a:lnSpc>
                <a:spcPct val="140000"/>
              </a:lnSpc>
            </a:pPr>
            <a:endParaRPr lang="en-US" sz="32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FF0000"/>
                </a:solidFill>
              </a:rPr>
              <a:t>Tweaking Insertion Sort with ML</a:t>
            </a:r>
            <a:endParaRPr lang="en-US" sz="4000">
              <a:solidFill>
                <a:srgbClr val="FF0000"/>
              </a:solidFill>
            </a:endParaRPr>
          </a:p>
        </p:txBody>
      </p:sp>
      <p:sp>
        <p:nvSpPr>
          <p:cNvPr id="3" name="Content Placeholder 2"/>
          <p:cNvSpPr>
            <a:spLocks noGrp="1"/>
          </p:cNvSpPr>
          <p:nvPr>
            <p:ph idx="1"/>
          </p:nvPr>
        </p:nvSpPr>
        <p:spPr>
          <a:xfrm>
            <a:off x="211455" y="1223010"/>
            <a:ext cx="11793220" cy="5253990"/>
          </a:xfrm>
        </p:spPr>
        <p:txBody>
          <a:bodyPr>
            <a:noAutofit/>
          </a:bodyPr>
          <a:p>
            <a:pPr>
              <a:lnSpc>
                <a:spcPct val="140000"/>
              </a:lnSpc>
            </a:pPr>
            <a:r>
              <a:rPr lang="en-US" sz="3200">
                <a:solidFill>
                  <a:srgbClr val="002060"/>
                </a:solidFill>
                <a:sym typeface="+mn-ea"/>
              </a:rPr>
              <a:t>Output: A list of the same records, reordered so that:</a:t>
            </a:r>
            <a:endParaRPr lang="en-US" sz="3200">
              <a:solidFill>
                <a:srgbClr val="002060"/>
              </a:solidFill>
            </a:endParaRPr>
          </a:p>
          <a:p>
            <a:pPr>
              <a:lnSpc>
                <a:spcPct val="140000"/>
              </a:lnSpc>
            </a:pPr>
            <a:r>
              <a:rPr lang="en-US" sz="3200">
                <a:solidFill>
                  <a:srgbClr val="002060"/>
                </a:solidFill>
              </a:rPr>
              <a:t>Every correctly classified record appears before every incorrectly classified record.</a:t>
            </a:r>
            <a:endParaRPr lang="en-US" sz="3200">
              <a:solidFill>
                <a:srgbClr val="002060"/>
              </a:solidFill>
            </a:endParaRPr>
          </a:p>
          <a:p>
            <a:pPr>
              <a:lnSpc>
                <a:spcPct val="140000"/>
              </a:lnSpc>
            </a:pPr>
            <a:r>
              <a:rPr lang="en-US" sz="3200">
                <a:solidFill>
                  <a:srgbClr val="002060"/>
                </a:solidFill>
              </a:rPr>
              <a:t>Within the block of correctly classified records, records are sorted in ascending order of index.</a:t>
            </a:r>
            <a:endParaRPr lang="en-US" sz="3200">
              <a:solidFill>
                <a:srgbClr val="002060"/>
              </a:solidFill>
            </a:endParaRPr>
          </a:p>
          <a:p>
            <a:pPr>
              <a:lnSpc>
                <a:spcPct val="140000"/>
              </a:lnSpc>
            </a:pPr>
            <a:r>
              <a:rPr lang="en-US" sz="3200">
                <a:solidFill>
                  <a:srgbClr val="002060"/>
                </a:solidFill>
              </a:rPr>
              <a:t>Within the block of incorrectly classified records, records are sorted in ascending order of index.</a:t>
            </a:r>
            <a:endParaRPr lang="en-US" sz="3200">
              <a:solidFill>
                <a:srgbClr val="002060"/>
              </a:solidFill>
            </a:endParaRPr>
          </a:p>
          <a:p>
            <a:pPr>
              <a:lnSpc>
                <a:spcPct val="140000"/>
              </a:lnSpc>
            </a:pPr>
            <a:endParaRPr lang="en-US" sz="3200">
              <a:solidFill>
                <a:srgbClr val="00206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FF0000"/>
                </a:solidFill>
              </a:rPr>
              <a:t>Tweaking Insertion Sort with ML</a:t>
            </a:r>
            <a:endParaRPr lang="en-US" sz="4000">
              <a:solidFill>
                <a:srgbClr val="FF0000"/>
              </a:solidFill>
            </a:endParaRPr>
          </a:p>
        </p:txBody>
      </p:sp>
      <p:sp>
        <p:nvSpPr>
          <p:cNvPr id="3" name="Content Placeholder 2"/>
          <p:cNvSpPr>
            <a:spLocks noGrp="1"/>
          </p:cNvSpPr>
          <p:nvPr>
            <p:ph idx="1"/>
          </p:nvPr>
        </p:nvSpPr>
        <p:spPr>
          <a:xfrm>
            <a:off x="211455" y="955040"/>
            <a:ext cx="11793220" cy="5521960"/>
          </a:xfrm>
        </p:spPr>
        <p:txBody>
          <a:bodyPr>
            <a:noAutofit/>
          </a:bodyPr>
          <a:p>
            <a:pPr>
              <a:lnSpc>
                <a:spcPct val="120000"/>
              </a:lnSpc>
            </a:pPr>
            <a:r>
              <a:rPr lang="en-US" sz="3200">
                <a:solidFill>
                  <a:srgbClr val="002060"/>
                </a:solidFill>
              </a:rPr>
              <a:t>Result for the sample above (output order by index within each block):</a:t>
            </a:r>
            <a:endParaRPr lang="en-US" sz="3200">
              <a:solidFill>
                <a:srgbClr val="002060"/>
              </a:solidFill>
            </a:endParaRPr>
          </a:p>
          <a:p>
            <a:pPr>
              <a:lnSpc>
                <a:spcPct val="120000"/>
              </a:lnSpc>
            </a:pPr>
            <a:r>
              <a:rPr lang="en-US" sz="3200">
                <a:solidFill>
                  <a:srgbClr val="002060"/>
                </a:solidFill>
              </a:rPr>
              <a:t>(5, 0, 0)</a:t>
            </a:r>
            <a:endParaRPr lang="en-US" sz="3200">
              <a:solidFill>
                <a:srgbClr val="002060"/>
              </a:solidFill>
            </a:endParaRPr>
          </a:p>
          <a:p>
            <a:pPr>
              <a:lnSpc>
                <a:spcPct val="120000"/>
              </a:lnSpc>
            </a:pPr>
            <a:r>
              <a:rPr lang="en-US" sz="3200">
                <a:solidFill>
                  <a:srgbClr val="002060"/>
                </a:solidFill>
              </a:rPr>
              <a:t>(33, 2, 2)</a:t>
            </a:r>
            <a:endParaRPr lang="en-US" sz="3200">
              <a:solidFill>
                <a:srgbClr val="002060"/>
              </a:solidFill>
            </a:endParaRPr>
          </a:p>
          <a:p>
            <a:pPr>
              <a:lnSpc>
                <a:spcPct val="120000"/>
              </a:lnSpc>
            </a:pPr>
            <a:r>
              <a:rPr lang="en-US" sz="3200">
                <a:solidFill>
                  <a:srgbClr val="002060"/>
                </a:solidFill>
              </a:rPr>
              <a:t>(47, 3, 3)</a:t>
            </a:r>
            <a:endParaRPr lang="en-US" sz="3200">
              <a:solidFill>
                <a:srgbClr val="002060"/>
              </a:solidFill>
            </a:endParaRPr>
          </a:p>
          <a:p>
            <a:pPr>
              <a:lnSpc>
                <a:spcPct val="120000"/>
              </a:lnSpc>
            </a:pPr>
            <a:r>
              <a:rPr lang="en-US" sz="3200">
                <a:solidFill>
                  <a:srgbClr val="002060"/>
                </a:solidFill>
              </a:rPr>
              <a:t>(89, 1, 1)</a:t>
            </a:r>
            <a:endParaRPr lang="en-US" sz="3200">
              <a:solidFill>
                <a:srgbClr val="002060"/>
              </a:solidFill>
            </a:endParaRPr>
          </a:p>
          <a:p>
            <a:pPr>
              <a:lnSpc>
                <a:spcPct val="120000"/>
              </a:lnSpc>
            </a:pPr>
            <a:r>
              <a:rPr lang="en-US" sz="3200">
                <a:solidFill>
                  <a:srgbClr val="002060"/>
                </a:solidFill>
              </a:rPr>
              <a:t>(12, 7, 2)</a:t>
            </a:r>
            <a:endParaRPr lang="en-US" sz="3200">
              <a:solidFill>
                <a:srgbClr val="002060"/>
              </a:solidFill>
            </a:endParaRPr>
          </a:p>
          <a:p>
            <a:pPr>
              <a:lnSpc>
                <a:spcPct val="120000"/>
              </a:lnSpc>
            </a:pPr>
            <a:r>
              <a:rPr lang="en-US" sz="3200">
                <a:solidFill>
                  <a:srgbClr val="002060"/>
                </a:solidFill>
              </a:rPr>
              <a:t>(61, 4, 9)</a:t>
            </a:r>
            <a:endParaRPr lang="en-US" sz="3200">
              <a:solidFill>
                <a:srgbClr val="00206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FF0000"/>
                </a:solidFill>
              </a:rPr>
              <a:t>Training on Misclassified Samples</a:t>
            </a:r>
            <a:endParaRPr lang="en-US" sz="4000">
              <a:solidFill>
                <a:srgbClr val="FF0000"/>
              </a:solidFill>
            </a:endParaRPr>
          </a:p>
        </p:txBody>
      </p:sp>
      <p:sp>
        <p:nvSpPr>
          <p:cNvPr id="3" name="Content Placeholder 2"/>
          <p:cNvSpPr>
            <a:spLocks noGrp="1"/>
          </p:cNvSpPr>
          <p:nvPr>
            <p:ph idx="1"/>
          </p:nvPr>
        </p:nvSpPr>
        <p:spPr>
          <a:xfrm>
            <a:off x="211455" y="955040"/>
            <a:ext cx="11793220" cy="5521960"/>
          </a:xfrm>
        </p:spPr>
        <p:txBody>
          <a:bodyPr>
            <a:noAutofit/>
          </a:bodyPr>
          <a:p>
            <a:pPr>
              <a:lnSpc>
                <a:spcPct val="150000"/>
              </a:lnSpc>
            </a:pPr>
            <a:r>
              <a:rPr lang="en-US" sz="3200">
                <a:solidFill>
                  <a:srgbClr val="002060"/>
                </a:solidFill>
              </a:rPr>
              <a:t>Understand how focusing on misclassified samples can improve model performance and build intuition behind techniques like boosting.</a:t>
            </a:r>
            <a:endParaRPr lang="en-US" sz="3200">
              <a:solidFill>
                <a:srgbClr val="00206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FF0000"/>
                </a:solidFill>
              </a:rPr>
              <a:t>Base Problem (Standard ML Task)</a:t>
            </a:r>
            <a:endParaRPr lang="en-US" sz="4000">
              <a:solidFill>
                <a:srgbClr val="FF0000"/>
              </a:solidFill>
            </a:endParaRPr>
          </a:p>
        </p:txBody>
      </p:sp>
      <p:sp>
        <p:nvSpPr>
          <p:cNvPr id="3" name="Content Placeholder 2"/>
          <p:cNvSpPr>
            <a:spLocks noGrp="1"/>
          </p:cNvSpPr>
          <p:nvPr>
            <p:ph idx="1"/>
          </p:nvPr>
        </p:nvSpPr>
        <p:spPr>
          <a:xfrm>
            <a:off x="211455" y="1222375"/>
            <a:ext cx="11793220" cy="5254625"/>
          </a:xfrm>
        </p:spPr>
        <p:txBody>
          <a:bodyPr>
            <a:noAutofit/>
          </a:bodyPr>
          <a:p>
            <a:pPr>
              <a:lnSpc>
                <a:spcPct val="120000"/>
              </a:lnSpc>
            </a:pPr>
            <a:r>
              <a:rPr lang="en-US" sz="3200">
                <a:solidFill>
                  <a:srgbClr val="002060"/>
                </a:solidFill>
              </a:rPr>
              <a:t>Train a classification model (e.g., Logistic Regression) on a dataset and evaluate its accuracy.</a:t>
            </a:r>
            <a:endParaRPr lang="en-US" sz="3200">
              <a:solidFill>
                <a:srgbClr val="002060"/>
              </a:solidFill>
            </a:endParaRPr>
          </a:p>
          <a:p>
            <a:pPr>
              <a:lnSpc>
                <a:spcPct val="120000"/>
              </a:lnSpc>
            </a:pPr>
            <a:r>
              <a:rPr lang="en-US" sz="3200" b="1">
                <a:solidFill>
                  <a:srgbClr val="002060"/>
                </a:solidFill>
              </a:rPr>
              <a:t>Task</a:t>
            </a:r>
            <a:endParaRPr lang="en-US" sz="3200">
              <a:solidFill>
                <a:srgbClr val="002060"/>
              </a:solidFill>
            </a:endParaRPr>
          </a:p>
          <a:p>
            <a:pPr>
              <a:lnSpc>
                <a:spcPct val="120000"/>
              </a:lnSpc>
            </a:pPr>
            <a:r>
              <a:rPr lang="en-US" sz="3200">
                <a:solidFill>
                  <a:srgbClr val="002060"/>
                </a:solidFill>
              </a:rPr>
              <a:t>Train model on full dataset</a:t>
            </a:r>
            <a:endParaRPr lang="en-US" sz="3200">
              <a:solidFill>
                <a:srgbClr val="002060"/>
              </a:solidFill>
            </a:endParaRPr>
          </a:p>
          <a:p>
            <a:pPr>
              <a:lnSpc>
                <a:spcPct val="120000"/>
              </a:lnSpc>
            </a:pPr>
            <a:r>
              <a:rPr lang="en-US" sz="3200">
                <a:solidFill>
                  <a:srgbClr val="002060"/>
                </a:solidFill>
              </a:rPr>
              <a:t>Predict on test set</a:t>
            </a:r>
            <a:endParaRPr lang="en-US" sz="3200">
              <a:solidFill>
                <a:srgbClr val="002060"/>
              </a:solidFill>
            </a:endParaRPr>
          </a:p>
          <a:p>
            <a:pPr>
              <a:lnSpc>
                <a:spcPct val="120000"/>
              </a:lnSpc>
            </a:pPr>
            <a:r>
              <a:rPr lang="en-US" sz="3200">
                <a:solidFill>
                  <a:srgbClr val="002060"/>
                </a:solidFill>
              </a:rPr>
              <a:t>Compute accuracy</a:t>
            </a:r>
            <a:endParaRPr lang="en-US" sz="3200">
              <a:solidFill>
                <a:srgbClr val="002060"/>
              </a:solidFill>
            </a:endParaRPr>
          </a:p>
          <a:p>
            <a:pPr>
              <a:lnSpc>
                <a:spcPct val="120000"/>
              </a:lnSpc>
            </a:pPr>
            <a:endParaRPr lang="en-US" sz="3200" b="1">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FF0000"/>
                </a:solidFill>
              </a:rPr>
              <a:t>Finding Appropriate Dataset</a:t>
            </a:r>
            <a:endParaRPr lang="en-US" sz="4000">
              <a:solidFill>
                <a:srgbClr val="FF0000"/>
              </a:solidFill>
            </a:endParaRPr>
          </a:p>
        </p:txBody>
      </p:sp>
      <p:sp>
        <p:nvSpPr>
          <p:cNvPr id="3" name="Content Placeholder 2"/>
          <p:cNvSpPr>
            <a:spLocks noGrp="1"/>
          </p:cNvSpPr>
          <p:nvPr>
            <p:ph idx="1"/>
          </p:nvPr>
        </p:nvSpPr>
        <p:spPr>
          <a:xfrm>
            <a:off x="211455" y="1222375"/>
            <a:ext cx="11793220" cy="5254625"/>
          </a:xfrm>
        </p:spPr>
        <p:txBody>
          <a:bodyPr>
            <a:noAutofit/>
          </a:bodyPr>
          <a:p>
            <a:pPr>
              <a:lnSpc>
                <a:spcPct val="140000"/>
              </a:lnSpc>
            </a:pPr>
            <a:r>
              <a:rPr lang="en-US" sz="3200">
                <a:solidFill>
                  <a:srgbClr val="E3517A"/>
                </a:solidFill>
              </a:rPr>
              <a:t>Consider the dataset Wine (UCI, via scikit-learn), Train a classification model (e.g., Logistic Regression) on a dataset and evaluate its accuracy.</a:t>
            </a:r>
            <a:endParaRPr lang="en-US" sz="3200">
              <a:solidFill>
                <a:srgbClr val="E3517A"/>
              </a:solidFill>
            </a:endParaRPr>
          </a:p>
          <a:p>
            <a:pPr>
              <a:lnSpc>
                <a:spcPct val="140000"/>
              </a:lnSpc>
            </a:pPr>
            <a:r>
              <a:rPr lang="en-US" sz="3200">
                <a:solidFill>
                  <a:srgbClr val="002060"/>
                </a:solidFill>
              </a:rPr>
              <a:t>Test accuracy: 1.0000 (45 test samples with random_state=42). Wine is small and often separable well with scaled logistic regression, so perfect accuracy on one split is plausible; other splits or folds can be slightly below 1.0.</a:t>
            </a:r>
            <a:endParaRPr lang="en-US" sz="32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FF0000"/>
                </a:solidFill>
              </a:rPr>
              <a:t>Finding Appropriate Dataset</a:t>
            </a:r>
            <a:endParaRPr lang="en-US" sz="4000">
              <a:solidFill>
                <a:srgbClr val="FF0000"/>
              </a:solidFill>
            </a:endParaRPr>
          </a:p>
        </p:txBody>
      </p:sp>
      <p:sp>
        <p:nvSpPr>
          <p:cNvPr id="3" name="Content Placeholder 2"/>
          <p:cNvSpPr>
            <a:spLocks noGrp="1"/>
          </p:cNvSpPr>
          <p:nvPr>
            <p:ph idx="1"/>
          </p:nvPr>
        </p:nvSpPr>
        <p:spPr>
          <a:xfrm>
            <a:off x="211455" y="1222375"/>
            <a:ext cx="11793220" cy="5254625"/>
          </a:xfrm>
        </p:spPr>
        <p:txBody>
          <a:bodyPr>
            <a:noAutofit/>
          </a:bodyPr>
          <a:p>
            <a:pPr>
              <a:lnSpc>
                <a:spcPct val="120000"/>
              </a:lnSpc>
            </a:pPr>
            <a:r>
              <a:rPr lang="en-US" sz="3200">
                <a:solidFill>
                  <a:srgbClr val="E3517A"/>
                </a:solidFill>
              </a:rPr>
              <a:t>I want a dataset for which logistic regression will not work 100 percentage</a:t>
            </a:r>
            <a:endParaRPr lang="en-US" sz="3200">
              <a:solidFill>
                <a:srgbClr val="E3517A"/>
              </a:solidFill>
            </a:endParaRPr>
          </a:p>
          <a:p>
            <a:pPr>
              <a:lnSpc>
                <a:spcPct val="120000"/>
              </a:lnSpc>
            </a:pPr>
            <a:r>
              <a:rPr lang="en-US" sz="3200">
                <a:solidFill>
                  <a:srgbClr val="002060"/>
                </a:solidFill>
              </a:rPr>
              <a:t>Adding a reproducible example: synthetic datasets like make_moons prevent linear boundaries from fitting perfectly, so logistic regression won't reach 100% accuracy.</a:t>
            </a:r>
            <a:endParaRPr lang="en-US" sz="3200">
              <a:solidFill>
                <a:srgbClr val="002060"/>
              </a:solidFill>
            </a:endParaRPr>
          </a:p>
          <a:p>
            <a:pPr>
              <a:lnSpc>
                <a:spcPct val="120000"/>
              </a:lnSpc>
            </a:pPr>
            <a:r>
              <a:rPr lang="en-US" sz="3200">
                <a:solidFill>
                  <a:srgbClr val="002060"/>
                </a:solidFill>
              </a:rPr>
              <a:t>In your repo: moons_logistic_regression.py — with noise=0.25 it got ~84% test accuracy here (your exact number may differ slightly by seed).</a:t>
            </a:r>
            <a:endParaRPr lang="en-US" sz="32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FF0000"/>
                </a:solidFill>
              </a:rPr>
              <a:t>Identify Misclassified Samples</a:t>
            </a:r>
            <a:endParaRPr lang="en-US" sz="4000">
              <a:solidFill>
                <a:srgbClr val="FF0000"/>
              </a:solidFill>
            </a:endParaRPr>
          </a:p>
        </p:txBody>
      </p:sp>
      <p:sp>
        <p:nvSpPr>
          <p:cNvPr id="3" name="Content Placeholder 2"/>
          <p:cNvSpPr>
            <a:spLocks noGrp="1"/>
          </p:cNvSpPr>
          <p:nvPr>
            <p:ph idx="1"/>
          </p:nvPr>
        </p:nvSpPr>
        <p:spPr>
          <a:xfrm>
            <a:off x="211455" y="1222375"/>
            <a:ext cx="11793220" cy="5254625"/>
          </a:xfrm>
        </p:spPr>
        <p:txBody>
          <a:bodyPr>
            <a:noAutofit/>
          </a:bodyPr>
          <a:p>
            <a:pPr>
              <a:lnSpc>
                <a:spcPct val="120000"/>
              </a:lnSpc>
            </a:pPr>
            <a:r>
              <a:rPr lang="en-US" sz="3200">
                <a:solidFill>
                  <a:srgbClr val="002060"/>
                </a:solidFill>
              </a:rPr>
              <a:t>After prediction, extract only those samples where:</a:t>
            </a:r>
            <a:endParaRPr lang="en-US" sz="3200">
              <a:solidFill>
                <a:srgbClr val="002060"/>
              </a:solidFill>
            </a:endParaRPr>
          </a:p>
          <a:p>
            <a:pPr>
              <a:lnSpc>
                <a:spcPct val="120000"/>
              </a:lnSpc>
            </a:pPr>
            <a:r>
              <a:rPr lang="en-US" sz="3200">
                <a:solidFill>
                  <a:srgbClr val="002060"/>
                </a:solidFill>
              </a:rPr>
              <a:t>Predicted Label ≠ Actual Label</a:t>
            </a:r>
            <a:endParaRPr lang="en-US" sz="3200">
              <a:solidFill>
                <a:srgbClr val="002060"/>
              </a:solidFill>
            </a:endParaRPr>
          </a:p>
          <a:p>
            <a:pPr>
              <a:lnSpc>
                <a:spcPct val="120000"/>
              </a:lnSpc>
            </a:pPr>
            <a:r>
              <a:rPr lang="en-US" sz="3200" b="1">
                <a:solidFill>
                  <a:srgbClr val="002060"/>
                </a:solidFill>
              </a:rPr>
              <a:t>Task</a:t>
            </a:r>
            <a:endParaRPr lang="en-US" sz="3200">
              <a:solidFill>
                <a:srgbClr val="002060"/>
              </a:solidFill>
            </a:endParaRPr>
          </a:p>
          <a:p>
            <a:pPr>
              <a:lnSpc>
                <a:spcPct val="120000"/>
              </a:lnSpc>
            </a:pPr>
            <a:r>
              <a:rPr lang="en-US" sz="3200">
                <a:solidFill>
                  <a:srgbClr val="002060"/>
                </a:solidFill>
              </a:rPr>
              <a:t>Create a subset of misclassified data</a:t>
            </a:r>
            <a:endParaRPr lang="en-US" sz="3200">
              <a:solidFill>
                <a:srgbClr val="002060"/>
              </a:solidFill>
            </a:endParaRPr>
          </a:p>
          <a:p>
            <a:pPr>
              <a:lnSpc>
                <a:spcPct val="120000"/>
              </a:lnSpc>
            </a:pPr>
            <a:r>
              <a:rPr lang="en-US" sz="3200">
                <a:solidFill>
                  <a:srgbClr val="002060"/>
                </a:solidFill>
              </a:rPr>
              <a:t>Analyze how many samples are misclassified</a:t>
            </a:r>
            <a:endParaRPr lang="en-US" sz="3200">
              <a:solidFill>
                <a:srgbClr val="002060"/>
              </a:solidFill>
            </a:endParaRPr>
          </a:p>
          <a:p>
            <a:pPr>
              <a:lnSpc>
                <a:spcPct val="120000"/>
              </a:lnSpc>
            </a:pPr>
            <a:r>
              <a:rPr lang="en-US" sz="3200">
                <a:solidFill>
                  <a:srgbClr val="002060"/>
                </a:solidFill>
              </a:rPr>
              <a:t>Concept: Error analysis</a:t>
            </a:r>
            <a:endParaRPr lang="en-US" sz="32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FF0000"/>
                </a:solidFill>
              </a:rPr>
              <a:t>Identify Misclassified Samples</a:t>
            </a:r>
            <a:endParaRPr lang="en-US" sz="4000">
              <a:solidFill>
                <a:srgbClr val="FF0000"/>
              </a:solidFill>
            </a:endParaRPr>
          </a:p>
        </p:txBody>
      </p:sp>
      <p:sp>
        <p:nvSpPr>
          <p:cNvPr id="3" name="Content Placeholder 2"/>
          <p:cNvSpPr>
            <a:spLocks noGrp="1"/>
          </p:cNvSpPr>
          <p:nvPr>
            <p:ph idx="1"/>
          </p:nvPr>
        </p:nvSpPr>
        <p:spPr>
          <a:xfrm>
            <a:off x="211455" y="1222375"/>
            <a:ext cx="11793220" cy="5254625"/>
          </a:xfrm>
        </p:spPr>
        <p:txBody>
          <a:bodyPr>
            <a:noAutofit/>
          </a:bodyPr>
          <a:p>
            <a:pPr>
              <a:lnSpc>
                <a:spcPct val="120000"/>
              </a:lnSpc>
            </a:pPr>
            <a:r>
              <a:rPr lang="en-US" sz="3200">
                <a:solidFill>
                  <a:srgbClr val="E3517A"/>
                </a:solidFill>
              </a:rPr>
              <a:t>Let's consider moon's dataset and Identify Misclassified Samples</a:t>
            </a:r>
            <a:endParaRPr lang="en-US" sz="3200">
              <a:solidFill>
                <a:srgbClr val="E3517A"/>
              </a:solidFill>
            </a:endParaRPr>
          </a:p>
          <a:p>
            <a:pPr>
              <a:lnSpc>
                <a:spcPct val="120000"/>
              </a:lnSpc>
            </a:pPr>
            <a:r>
              <a:rPr lang="en-US" sz="3200">
                <a:solidFill>
                  <a:srgbClr val="002060"/>
                </a:solidFill>
              </a:rPr>
              <a:t>Adding a reproducible example: synthetic datasets like make_moons prevent linear boundaries from fitting perfectly, so logistic regression won't reach 100% accuracy.</a:t>
            </a:r>
            <a:endParaRPr lang="en-US" sz="3200">
              <a:solidFill>
                <a:srgbClr val="002060"/>
              </a:solidFill>
            </a:endParaRPr>
          </a:p>
          <a:p>
            <a:pPr>
              <a:lnSpc>
                <a:spcPct val="120000"/>
              </a:lnSpc>
            </a:pPr>
            <a:r>
              <a:rPr lang="en-US" sz="3200">
                <a:solidFill>
                  <a:srgbClr val="E3517A"/>
                </a:solidFill>
              </a:rPr>
              <a:t>Give as CSV for retraining on errors only</a:t>
            </a:r>
            <a:endParaRPr lang="en-US" sz="3200">
              <a:solidFill>
                <a:srgbClr val="E3517A"/>
              </a:solidFill>
            </a:endParaRPr>
          </a:p>
          <a:p>
            <a:pPr>
              <a:lnSpc>
                <a:spcPct val="120000"/>
              </a:lnSpc>
            </a:pPr>
            <a:r>
              <a:rPr lang="en-US" sz="3200">
                <a:solidFill>
                  <a:srgbClr val="002060"/>
                </a:solidFill>
              </a:rPr>
              <a:t>Adding CSV export of misclassified test rows (features + true label + prediction) using the standard library csv module.</a:t>
            </a:r>
            <a:endParaRPr lang="en-US" sz="32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FF0000"/>
                </a:solidFill>
              </a:rPr>
              <a:t>Identify Misclassified Samples</a:t>
            </a:r>
            <a:endParaRPr lang="en-US" sz="4000">
              <a:solidFill>
                <a:srgbClr val="FF0000"/>
              </a:solidFill>
            </a:endParaRPr>
          </a:p>
        </p:txBody>
      </p:sp>
      <p:sp>
        <p:nvSpPr>
          <p:cNvPr id="3" name="Content Placeholder 2"/>
          <p:cNvSpPr>
            <a:spLocks noGrp="1"/>
          </p:cNvSpPr>
          <p:nvPr>
            <p:ph idx="1"/>
          </p:nvPr>
        </p:nvSpPr>
        <p:spPr>
          <a:xfrm>
            <a:off x="211455" y="1222375"/>
            <a:ext cx="11793220" cy="5254625"/>
          </a:xfrm>
        </p:spPr>
        <p:txBody>
          <a:bodyPr>
            <a:noAutofit/>
          </a:bodyPr>
          <a:p>
            <a:pPr>
              <a:lnSpc>
                <a:spcPct val="120000"/>
              </a:lnSpc>
            </a:pPr>
            <a:r>
              <a:rPr lang="en-US" sz="3200">
                <a:solidFill>
                  <a:srgbClr val="E3517A"/>
                </a:solidFill>
              </a:rPr>
              <a:t>Retrain the model using only misclassified samples</a:t>
            </a:r>
            <a:endParaRPr lang="en-US" sz="3200">
              <a:solidFill>
                <a:srgbClr val="E3517A"/>
              </a:solidFill>
            </a:endParaRPr>
          </a:p>
          <a:p>
            <a:pPr>
              <a:lnSpc>
                <a:spcPct val="120000"/>
              </a:lnSpc>
            </a:pPr>
            <a:r>
              <a:rPr lang="en-US" sz="3200">
                <a:solidFill>
                  <a:srgbClr val="002060"/>
                </a:solidFill>
              </a:rPr>
              <a:t>Extending the moons script to train a second model on misclassified training samples and compare test-set accuracy to the baseline.</a:t>
            </a:r>
            <a:endParaRPr lang="en-US" sz="3200">
              <a:solidFill>
                <a:srgbClr val="002060"/>
              </a:solidFill>
            </a:endParaRPr>
          </a:p>
          <a:p>
            <a:pPr>
              <a:lnSpc>
                <a:spcPct val="120000"/>
              </a:lnSpc>
            </a:pPr>
            <a:r>
              <a:rPr lang="en-US" sz="3200">
                <a:solidFill>
                  <a:srgbClr val="002060"/>
                </a:solidFill>
              </a:rPr>
              <a:t>Retrain collapses to ~17% accuracy — an important teaching outcome. Adding a short printed note explaining why error-only training often hurts test performance:</a:t>
            </a:r>
            <a:endParaRPr lang="en-US" sz="3200">
              <a:solidFill>
                <a:srgbClr val="002060"/>
              </a:solidFill>
            </a:endParaRPr>
          </a:p>
          <a:p>
            <a:pPr>
              <a:lnSpc>
                <a:spcPct val="120000"/>
              </a:lnSpc>
            </a:pPr>
            <a:endParaRPr lang="en-US" sz="32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FF0000"/>
                </a:solidFill>
              </a:rPr>
              <a:t>Identify Misclassified Samples</a:t>
            </a:r>
            <a:endParaRPr lang="en-US" sz="4000">
              <a:solidFill>
                <a:srgbClr val="FF0000"/>
              </a:solidFill>
            </a:endParaRPr>
          </a:p>
        </p:txBody>
      </p:sp>
      <p:sp>
        <p:nvSpPr>
          <p:cNvPr id="3" name="Content Placeholder 2"/>
          <p:cNvSpPr>
            <a:spLocks noGrp="1"/>
          </p:cNvSpPr>
          <p:nvPr>
            <p:ph idx="1"/>
          </p:nvPr>
        </p:nvSpPr>
        <p:spPr>
          <a:xfrm>
            <a:off x="211455" y="1222375"/>
            <a:ext cx="11793220" cy="5254625"/>
          </a:xfrm>
        </p:spPr>
        <p:txBody>
          <a:bodyPr>
            <a:noAutofit/>
          </a:bodyPr>
          <a:p>
            <a:pPr>
              <a:lnSpc>
                <a:spcPct val="120000"/>
              </a:lnSpc>
            </a:pPr>
            <a:r>
              <a:rPr lang="en-US" sz="3200">
                <a:solidFill>
                  <a:srgbClr val="E3517A"/>
                </a:solidFill>
              </a:rPr>
              <a:t>Try oversampling hard examples while still keeping the rest of the data</a:t>
            </a:r>
            <a:endParaRPr lang="en-US" sz="3200">
              <a:solidFill>
                <a:srgbClr val="E3517A"/>
              </a:solidFill>
            </a:endParaRPr>
          </a:p>
          <a:p>
            <a:pPr>
              <a:lnSpc>
                <a:spcPct val="120000"/>
              </a:lnSpc>
            </a:pPr>
            <a:r>
              <a:rPr lang="en-US" sz="3200">
                <a:solidFill>
                  <a:srgbClr val="002060"/>
                </a:solidFill>
              </a:rPr>
              <a:t>Oversampled (full + 1× each hard row): 0.8240</a:t>
            </a:r>
            <a:endParaRPr lang="en-US" sz="3200">
              <a:solidFill>
                <a:srgbClr val="002060"/>
              </a:solidFill>
            </a:endParaRPr>
          </a:p>
          <a:p>
            <a:pPr>
              <a:lnSpc>
                <a:spcPct val="120000"/>
              </a:lnSpc>
            </a:pPr>
            <a:r>
              <a:rPr lang="en-US" sz="3200">
                <a:solidFill>
                  <a:srgbClr val="11AD57"/>
                </a:solidFill>
              </a:rPr>
              <a:t>Is there a way to make the model better with hard examples?</a:t>
            </a:r>
            <a:endParaRPr lang="en-US" sz="3200">
              <a:solidFill>
                <a:srgbClr val="11AD57"/>
              </a:solidFill>
            </a:endParaRPr>
          </a:p>
          <a:p>
            <a:pPr>
              <a:lnSpc>
                <a:spcPct val="120000"/>
              </a:lnSpc>
            </a:pPr>
            <a:r>
              <a:rPr lang="en-US" sz="3200">
                <a:solidFill>
                  <a:srgbClr val="002060"/>
                </a:solidFill>
              </a:rPr>
              <a:t>Yes — but what “better” means depends on whether the limit is optimization (you’re not fitting the hard points well enough) or capacity (the model family can’t draw the right boundary at all).</a:t>
            </a:r>
            <a:endParaRPr lang="en-US" sz="32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FF0000"/>
                </a:solidFill>
              </a:rPr>
              <a:t>Identify Misclassified Samples</a:t>
            </a:r>
            <a:endParaRPr lang="en-US" sz="4000">
              <a:solidFill>
                <a:srgbClr val="FF0000"/>
              </a:solidFill>
            </a:endParaRPr>
          </a:p>
        </p:txBody>
      </p:sp>
      <p:sp>
        <p:nvSpPr>
          <p:cNvPr id="3" name="Content Placeholder 2"/>
          <p:cNvSpPr>
            <a:spLocks noGrp="1"/>
          </p:cNvSpPr>
          <p:nvPr>
            <p:ph idx="1"/>
          </p:nvPr>
        </p:nvSpPr>
        <p:spPr>
          <a:xfrm>
            <a:off x="211455" y="1222375"/>
            <a:ext cx="11793220" cy="5254625"/>
          </a:xfrm>
        </p:spPr>
        <p:txBody>
          <a:bodyPr>
            <a:noAutofit/>
          </a:bodyPr>
          <a:p>
            <a:pPr>
              <a:lnSpc>
                <a:spcPct val="120000"/>
              </a:lnSpc>
            </a:pPr>
            <a:r>
              <a:rPr lang="en-US" sz="3200">
                <a:solidFill>
                  <a:srgbClr val="002060"/>
                </a:solidFill>
              </a:rPr>
              <a:t>On make_moons specifically</a:t>
            </a:r>
            <a:endParaRPr lang="en-US" sz="3200">
              <a:solidFill>
                <a:srgbClr val="002060"/>
              </a:solidFill>
            </a:endParaRPr>
          </a:p>
          <a:p>
            <a:pPr>
              <a:lnSpc>
                <a:spcPct val="120000"/>
              </a:lnSpc>
            </a:pPr>
            <a:r>
              <a:rPr lang="en-US" sz="3200">
                <a:solidFill>
                  <a:srgbClr val="002060"/>
                </a:solidFill>
              </a:rPr>
              <a:t>Logistic regression is a linear decision boundary in the features you give it. The moons are not linearly separable in ((x_0, x_1)), so no amount of “hard-example magic” inside plain LR will reliably match something like an RBF SVM or a small MLP. Hard-example methods can nudge the line, but the big win is usually richer features or a nonlinear model.</a:t>
            </a:r>
            <a:endParaRPr lang="en-US" sz="32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FF0000"/>
                </a:solidFill>
              </a:rPr>
              <a:t>Tweaked Problem</a:t>
            </a:r>
            <a:endParaRPr lang="en-US" sz="4000">
              <a:solidFill>
                <a:srgbClr val="FF0000"/>
              </a:solidFill>
            </a:endParaRPr>
          </a:p>
        </p:txBody>
      </p:sp>
      <p:sp>
        <p:nvSpPr>
          <p:cNvPr id="3" name="Content Placeholder 2"/>
          <p:cNvSpPr>
            <a:spLocks noGrp="1"/>
          </p:cNvSpPr>
          <p:nvPr>
            <p:ph idx="1"/>
          </p:nvPr>
        </p:nvSpPr>
        <p:spPr>
          <a:xfrm>
            <a:off x="211455" y="1222375"/>
            <a:ext cx="11793220" cy="5254625"/>
          </a:xfrm>
        </p:spPr>
        <p:txBody>
          <a:bodyPr>
            <a:noAutofit/>
          </a:bodyPr>
          <a:p>
            <a:pPr>
              <a:lnSpc>
                <a:spcPct val="120000"/>
              </a:lnSpc>
            </a:pPr>
            <a:r>
              <a:rPr lang="en-US" sz="3200">
                <a:solidFill>
                  <a:srgbClr val="002060"/>
                </a:solidFill>
              </a:rPr>
              <a:t>Now modify the training process:</a:t>
            </a:r>
            <a:endParaRPr lang="en-US" sz="3200">
              <a:solidFill>
                <a:srgbClr val="002060"/>
              </a:solidFill>
            </a:endParaRPr>
          </a:p>
          <a:p>
            <a:pPr>
              <a:lnSpc>
                <a:spcPct val="120000"/>
              </a:lnSpc>
            </a:pPr>
            <a:r>
              <a:rPr lang="en-US" sz="3200">
                <a:solidFill>
                  <a:srgbClr val="002060"/>
                </a:solidFill>
              </a:rPr>
              <a:t>Retrain the model using only misclassified samples</a:t>
            </a:r>
            <a:endParaRPr lang="en-US" sz="3200">
              <a:solidFill>
                <a:srgbClr val="002060"/>
              </a:solidFill>
            </a:endParaRPr>
          </a:p>
          <a:p>
            <a:pPr>
              <a:lnSpc>
                <a:spcPct val="120000"/>
              </a:lnSpc>
            </a:pPr>
            <a:r>
              <a:rPr lang="en-US" sz="3200" b="1">
                <a:solidFill>
                  <a:srgbClr val="002060"/>
                </a:solidFill>
              </a:rPr>
              <a:t>Task</a:t>
            </a:r>
            <a:endParaRPr lang="en-US" sz="3200">
              <a:solidFill>
                <a:srgbClr val="002060"/>
              </a:solidFill>
            </a:endParaRPr>
          </a:p>
          <a:p>
            <a:pPr>
              <a:lnSpc>
                <a:spcPct val="120000"/>
              </a:lnSpc>
            </a:pPr>
            <a:r>
              <a:rPr lang="en-US" sz="3200">
                <a:solidFill>
                  <a:srgbClr val="002060"/>
                </a:solidFill>
              </a:rPr>
              <a:t>Train a new model on misclassified subset</a:t>
            </a:r>
            <a:endParaRPr lang="en-US" sz="3200">
              <a:solidFill>
                <a:srgbClr val="002060"/>
              </a:solidFill>
            </a:endParaRPr>
          </a:p>
          <a:p>
            <a:pPr>
              <a:lnSpc>
                <a:spcPct val="120000"/>
              </a:lnSpc>
            </a:pPr>
            <a:r>
              <a:rPr lang="en-US" sz="3200">
                <a:solidFill>
                  <a:srgbClr val="002060"/>
                </a:solidFill>
              </a:rPr>
              <a:t>Evaluate again on full test set</a:t>
            </a:r>
            <a:endParaRPr lang="en-US" sz="3200">
              <a:solidFill>
                <a:srgbClr val="002060"/>
              </a:solidFill>
            </a:endParaRPr>
          </a:p>
          <a:p>
            <a:pPr>
              <a:lnSpc>
                <a:spcPct val="120000"/>
              </a:lnSpc>
            </a:pPr>
            <a:r>
              <a:rPr lang="en-US" sz="3200">
                <a:solidFill>
                  <a:srgbClr val="002060"/>
                </a:solidFill>
              </a:rPr>
              <a:t>Concept: Focused learning / hard example mining</a:t>
            </a:r>
            <a:endParaRPr lang="en-US" sz="32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FF0000"/>
                </a:solidFill>
              </a:rPr>
              <a:t>Compare Results</a:t>
            </a:r>
            <a:endParaRPr lang="en-US" sz="4000">
              <a:solidFill>
                <a:srgbClr val="FF0000"/>
              </a:solidFill>
            </a:endParaRPr>
          </a:p>
        </p:txBody>
      </p:sp>
      <p:sp>
        <p:nvSpPr>
          <p:cNvPr id="3" name="Content Placeholder 2"/>
          <p:cNvSpPr>
            <a:spLocks noGrp="1"/>
          </p:cNvSpPr>
          <p:nvPr>
            <p:ph idx="1"/>
          </p:nvPr>
        </p:nvSpPr>
        <p:spPr>
          <a:xfrm>
            <a:off x="211455" y="1222375"/>
            <a:ext cx="11793220" cy="5254625"/>
          </a:xfrm>
        </p:spPr>
        <p:txBody>
          <a:bodyPr>
            <a:noAutofit/>
          </a:bodyPr>
          <a:p>
            <a:pPr>
              <a:lnSpc>
                <a:spcPct val="120000"/>
              </a:lnSpc>
            </a:pPr>
            <a:r>
              <a:rPr lang="en-US" sz="3200">
                <a:solidFill>
                  <a:srgbClr val="002060"/>
                </a:solidFill>
              </a:rPr>
              <a:t>Compare:</a:t>
            </a:r>
            <a:endParaRPr lang="en-US" sz="3200">
              <a:solidFill>
                <a:srgbClr val="002060"/>
              </a:solidFill>
            </a:endParaRPr>
          </a:p>
          <a:p>
            <a:pPr>
              <a:lnSpc>
                <a:spcPct val="120000"/>
              </a:lnSpc>
            </a:pPr>
            <a:r>
              <a:rPr lang="en-US" sz="3200">
                <a:solidFill>
                  <a:srgbClr val="002060"/>
                </a:solidFill>
              </a:rPr>
              <a:t>Original model accuracy</a:t>
            </a:r>
            <a:endParaRPr lang="en-US" sz="3200">
              <a:solidFill>
                <a:srgbClr val="002060"/>
              </a:solidFill>
            </a:endParaRPr>
          </a:p>
          <a:p>
            <a:pPr>
              <a:lnSpc>
                <a:spcPct val="120000"/>
              </a:lnSpc>
            </a:pPr>
            <a:r>
              <a:rPr lang="en-US" sz="3200">
                <a:solidFill>
                  <a:srgbClr val="002060"/>
                </a:solidFill>
              </a:rPr>
              <a:t>Retrained model accuracy</a:t>
            </a:r>
            <a:endParaRPr lang="en-US" sz="32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C00000"/>
                </a:solidFill>
                <a:sym typeface="+mn-ea"/>
              </a:rPr>
              <a:t>Ways to use hard examples that often help</a:t>
            </a:r>
            <a:endParaRPr lang="en-US" sz="4000">
              <a:solidFill>
                <a:srgbClr val="C00000"/>
              </a:solidFill>
              <a:sym typeface="+mn-ea"/>
            </a:endParaRPr>
          </a:p>
        </p:txBody>
      </p:sp>
      <p:sp>
        <p:nvSpPr>
          <p:cNvPr id="3" name="Content Placeholder 2"/>
          <p:cNvSpPr>
            <a:spLocks noGrp="1"/>
          </p:cNvSpPr>
          <p:nvPr>
            <p:ph idx="1"/>
          </p:nvPr>
        </p:nvSpPr>
        <p:spPr>
          <a:xfrm>
            <a:off x="211455" y="1222375"/>
            <a:ext cx="11793220" cy="5254625"/>
          </a:xfrm>
        </p:spPr>
        <p:txBody>
          <a:bodyPr>
            <a:noAutofit/>
          </a:bodyPr>
          <a:p>
            <a:pPr>
              <a:lnSpc>
                <a:spcPct val="120000"/>
              </a:lnSpc>
            </a:pPr>
            <a:r>
              <a:rPr lang="en-US" sz="3200" b="1">
                <a:solidFill>
                  <a:srgbClr val="002060"/>
                </a:solidFill>
              </a:rPr>
              <a:t>Weighting instead of duplicating</a:t>
            </a:r>
            <a:endParaRPr lang="en-US" sz="3200">
              <a:solidFill>
                <a:srgbClr val="002060"/>
              </a:solidFill>
            </a:endParaRPr>
          </a:p>
          <a:p>
            <a:pPr>
              <a:lnSpc>
                <a:spcPct val="120000"/>
              </a:lnSpc>
            </a:pPr>
            <a:r>
              <a:rPr lang="en-US" sz="3200">
                <a:solidFill>
                  <a:srgbClr val="002060"/>
                </a:solidFill>
              </a:rPr>
              <a:t>Fit on the full training set with sample_weight: give larger weight to hard points (identified after a first pass or via loss). Same idea as oversampling, but smoother and easier to tune.</a:t>
            </a:r>
            <a:endParaRPr lang="en-US" sz="3200">
              <a:solidFill>
                <a:srgbClr val="002060"/>
              </a:solidFill>
            </a:endParaRPr>
          </a:p>
          <a:p>
            <a:pPr>
              <a:lnSpc>
                <a:spcPct val="120000"/>
              </a:lnSpc>
            </a:pPr>
            <a:r>
              <a:rPr lang="en-US" sz="3200" b="1">
                <a:solidFill>
                  <a:srgbClr val="002060"/>
                </a:solidFill>
              </a:rPr>
              <a:t>Careful oversampling / curriculum</a:t>
            </a:r>
            <a:endParaRPr lang="en-US" sz="3200">
              <a:solidFill>
                <a:srgbClr val="002060"/>
              </a:solidFill>
            </a:endParaRPr>
          </a:p>
          <a:p>
            <a:pPr>
              <a:lnSpc>
                <a:spcPct val="120000"/>
              </a:lnSpc>
            </a:pPr>
            <a:r>
              <a:rPr lang="en-US" sz="3200">
                <a:solidFill>
                  <a:srgbClr val="002060"/>
                </a:solidFill>
              </a:rPr>
              <a:t>Keep the full data; add a few copies of hard points or gradually increase their weight. Too much upsampling can hurt (you distort the data distribution), which you already saw vs. baseline.</a:t>
            </a:r>
            <a:endParaRPr lang="en-US" sz="3200">
              <a:solidFill>
                <a:srgbClr val="002060"/>
              </a:solidFill>
            </a:endParaRPr>
          </a:p>
          <a:p>
            <a:pPr>
              <a:lnSpc>
                <a:spcPct val="120000"/>
              </a:lnSpc>
            </a:pPr>
            <a:endParaRPr lang="en-US" sz="32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C00000"/>
                </a:solidFill>
                <a:sym typeface="+mn-ea"/>
              </a:rPr>
              <a:t>Ways to use hard examples that often help</a:t>
            </a:r>
            <a:endParaRPr lang="en-US" sz="4000">
              <a:solidFill>
                <a:srgbClr val="C00000"/>
              </a:solidFill>
              <a:sym typeface="+mn-ea"/>
            </a:endParaRPr>
          </a:p>
        </p:txBody>
      </p:sp>
      <p:sp>
        <p:nvSpPr>
          <p:cNvPr id="3" name="Content Placeholder 2"/>
          <p:cNvSpPr>
            <a:spLocks noGrp="1"/>
          </p:cNvSpPr>
          <p:nvPr>
            <p:ph idx="1"/>
          </p:nvPr>
        </p:nvSpPr>
        <p:spPr>
          <a:xfrm>
            <a:off x="211455" y="1222375"/>
            <a:ext cx="11793220" cy="5254625"/>
          </a:xfrm>
        </p:spPr>
        <p:txBody>
          <a:bodyPr>
            <a:noAutofit/>
          </a:bodyPr>
          <a:p>
            <a:pPr>
              <a:lnSpc>
                <a:spcPct val="110000"/>
              </a:lnSpc>
            </a:pPr>
            <a:r>
              <a:rPr lang="en-US" sz="3200" b="1">
                <a:solidFill>
                  <a:srgbClr val="002060"/>
                </a:solidFill>
              </a:rPr>
              <a:t>Boosting</a:t>
            </a:r>
            <a:endParaRPr lang="en-US" sz="3200" b="1">
              <a:solidFill>
                <a:srgbClr val="002060"/>
              </a:solidFill>
            </a:endParaRPr>
          </a:p>
          <a:p>
            <a:pPr>
              <a:lnSpc>
                <a:spcPct val="110000"/>
              </a:lnSpc>
            </a:pPr>
            <a:r>
              <a:rPr lang="en-US" sz="3200">
                <a:solidFill>
                  <a:srgbClr val="002060"/>
                </a:solidFill>
              </a:rPr>
              <a:t>Algorithms like AdaBoost / gradient boosting explicitly reweight toward currently misclassified points. That’s a standard “focus on hard examples” family of models.</a:t>
            </a:r>
            <a:endParaRPr lang="en-US" sz="3200">
              <a:solidFill>
                <a:srgbClr val="002060"/>
              </a:solidFill>
            </a:endParaRPr>
          </a:p>
          <a:p>
            <a:pPr>
              <a:lnSpc>
                <a:spcPct val="110000"/>
              </a:lnSpc>
            </a:pPr>
            <a:r>
              <a:rPr lang="en-US" sz="3200" b="1">
                <a:solidFill>
                  <a:srgbClr val="002060"/>
                </a:solidFill>
              </a:rPr>
              <a:t>Better features (often best bang for buck here)</a:t>
            </a:r>
            <a:endParaRPr lang="en-US" sz="3200" b="1">
              <a:solidFill>
                <a:srgbClr val="002060"/>
              </a:solidFill>
            </a:endParaRPr>
          </a:p>
          <a:p>
            <a:pPr>
              <a:lnSpc>
                <a:spcPct val="110000"/>
              </a:lnSpc>
            </a:pPr>
            <a:r>
              <a:rPr lang="en-US" sz="3200">
                <a:solidFill>
                  <a:srgbClr val="002060"/>
                </a:solidFill>
              </a:rPr>
              <a:t>Polynomial features + logistic regression (e.g. degree 2–3)</a:t>
            </a:r>
            <a:endParaRPr lang="en-US" sz="3200">
              <a:solidFill>
                <a:srgbClr val="002060"/>
              </a:solidFill>
            </a:endParaRPr>
          </a:p>
          <a:p>
            <a:pPr>
              <a:lnSpc>
                <a:spcPct val="110000"/>
              </a:lnSpc>
            </a:pPr>
            <a:r>
              <a:rPr lang="en-US" sz="3200">
                <a:solidFill>
                  <a:srgbClr val="002060"/>
                </a:solidFill>
              </a:rPr>
              <a:t>RBF kernel (kernel SVM or kernel logistic-style methods)</a:t>
            </a:r>
            <a:endParaRPr lang="en-US" sz="3200">
              <a:solidFill>
                <a:srgbClr val="002060"/>
              </a:solidFill>
            </a:endParaRPr>
          </a:p>
          <a:p>
            <a:pPr>
              <a:lnSpc>
                <a:spcPct val="110000"/>
              </a:lnSpc>
            </a:pPr>
            <a:r>
              <a:rPr lang="en-US" sz="3200">
                <a:solidFill>
                  <a:srgbClr val="002060"/>
                </a:solidFill>
              </a:rPr>
              <a:t>These make the moons task easy without changing the story of “supervised learning.”</a:t>
            </a:r>
            <a:endParaRPr lang="en-US" sz="3200">
              <a:solidFill>
                <a:srgbClr val="002060"/>
              </a:solidFill>
            </a:endParaRPr>
          </a:p>
          <a:p>
            <a:pPr>
              <a:lnSpc>
                <a:spcPct val="120000"/>
              </a:lnSpc>
            </a:pPr>
            <a:endParaRPr lang="en-US" sz="32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C00000"/>
                </a:solidFill>
                <a:sym typeface="+mn-ea"/>
              </a:rPr>
              <a:t>Ways to use hard examples that often help</a:t>
            </a:r>
            <a:endParaRPr lang="en-US" sz="4000">
              <a:solidFill>
                <a:srgbClr val="C00000"/>
              </a:solidFill>
              <a:sym typeface="+mn-ea"/>
            </a:endParaRPr>
          </a:p>
        </p:txBody>
      </p:sp>
      <p:sp>
        <p:nvSpPr>
          <p:cNvPr id="3" name="Content Placeholder 2"/>
          <p:cNvSpPr>
            <a:spLocks noGrp="1"/>
          </p:cNvSpPr>
          <p:nvPr>
            <p:ph idx="1"/>
          </p:nvPr>
        </p:nvSpPr>
        <p:spPr>
          <a:xfrm>
            <a:off x="211455" y="1222375"/>
            <a:ext cx="11793220" cy="5254625"/>
          </a:xfrm>
        </p:spPr>
        <p:txBody>
          <a:bodyPr>
            <a:noAutofit/>
          </a:bodyPr>
          <a:p>
            <a:pPr>
              <a:lnSpc>
                <a:spcPct val="110000"/>
              </a:lnSpc>
            </a:pPr>
            <a:r>
              <a:rPr lang="en-US" sz="3200" b="1">
                <a:solidFill>
                  <a:srgbClr val="002060"/>
                </a:solidFill>
              </a:rPr>
              <a:t>Boosting</a:t>
            </a:r>
            <a:endParaRPr lang="en-US" sz="3200" b="1">
              <a:solidFill>
                <a:srgbClr val="002060"/>
              </a:solidFill>
            </a:endParaRPr>
          </a:p>
          <a:p>
            <a:pPr>
              <a:lnSpc>
                <a:spcPct val="110000"/>
              </a:lnSpc>
            </a:pPr>
            <a:r>
              <a:rPr lang="en-US" sz="3200">
                <a:solidFill>
                  <a:srgbClr val="002060"/>
                </a:solidFill>
              </a:rPr>
              <a:t>Algorithms like AdaBoost / gradient boosting explicitly reweight toward currently misclassified points. That’s a standard “focus on hard examples” family of models.</a:t>
            </a:r>
            <a:endParaRPr lang="en-US" sz="3200">
              <a:solidFill>
                <a:srgbClr val="002060"/>
              </a:solidFill>
            </a:endParaRPr>
          </a:p>
          <a:p>
            <a:pPr>
              <a:lnSpc>
                <a:spcPct val="110000"/>
              </a:lnSpc>
            </a:pPr>
            <a:r>
              <a:rPr lang="en-US" sz="3200" b="1">
                <a:solidFill>
                  <a:srgbClr val="002060"/>
                </a:solidFill>
              </a:rPr>
              <a:t>Better features (often best bang for buck here)</a:t>
            </a:r>
            <a:endParaRPr lang="en-US" sz="3200" b="1">
              <a:solidFill>
                <a:srgbClr val="002060"/>
              </a:solidFill>
            </a:endParaRPr>
          </a:p>
          <a:p>
            <a:pPr>
              <a:lnSpc>
                <a:spcPct val="110000"/>
              </a:lnSpc>
            </a:pPr>
            <a:r>
              <a:rPr lang="en-US" sz="3200">
                <a:solidFill>
                  <a:srgbClr val="002060"/>
                </a:solidFill>
              </a:rPr>
              <a:t>Polynomial features + logistic regression (e.g. degree 2–3)</a:t>
            </a:r>
            <a:endParaRPr lang="en-US" sz="3200">
              <a:solidFill>
                <a:srgbClr val="002060"/>
              </a:solidFill>
            </a:endParaRPr>
          </a:p>
          <a:p>
            <a:pPr>
              <a:lnSpc>
                <a:spcPct val="110000"/>
              </a:lnSpc>
            </a:pPr>
            <a:r>
              <a:rPr lang="en-US" sz="3200">
                <a:solidFill>
                  <a:srgbClr val="002060"/>
                </a:solidFill>
              </a:rPr>
              <a:t>RBF kernel (kernel SVM or kernel logistic-style methods)</a:t>
            </a:r>
            <a:endParaRPr lang="en-US" sz="3200">
              <a:solidFill>
                <a:srgbClr val="002060"/>
              </a:solidFill>
            </a:endParaRPr>
          </a:p>
          <a:p>
            <a:pPr>
              <a:lnSpc>
                <a:spcPct val="110000"/>
              </a:lnSpc>
            </a:pPr>
            <a:r>
              <a:rPr lang="en-US" sz="3200">
                <a:solidFill>
                  <a:srgbClr val="002060"/>
                </a:solidFill>
              </a:rPr>
              <a:t>These make the moons task easy without changing the story of “supervised learning.”</a:t>
            </a:r>
            <a:endParaRPr lang="en-US" sz="3200">
              <a:solidFill>
                <a:srgbClr val="002060"/>
              </a:solidFill>
            </a:endParaRPr>
          </a:p>
          <a:p>
            <a:pPr>
              <a:lnSpc>
                <a:spcPct val="120000"/>
              </a:lnSpc>
            </a:pPr>
            <a:endParaRPr lang="en-US" sz="32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C00000"/>
                </a:solidFill>
                <a:sym typeface="+mn-ea"/>
              </a:rPr>
              <a:t>Ways to use hard examples that often help</a:t>
            </a:r>
            <a:endParaRPr lang="en-US" sz="4000">
              <a:solidFill>
                <a:srgbClr val="C00000"/>
              </a:solidFill>
              <a:sym typeface="+mn-ea"/>
            </a:endParaRPr>
          </a:p>
        </p:txBody>
      </p:sp>
      <p:sp>
        <p:nvSpPr>
          <p:cNvPr id="3" name="Content Placeholder 2"/>
          <p:cNvSpPr>
            <a:spLocks noGrp="1"/>
          </p:cNvSpPr>
          <p:nvPr>
            <p:ph idx="1"/>
          </p:nvPr>
        </p:nvSpPr>
        <p:spPr>
          <a:xfrm>
            <a:off x="211455" y="1222375"/>
            <a:ext cx="11793220" cy="5254625"/>
          </a:xfrm>
        </p:spPr>
        <p:txBody>
          <a:bodyPr>
            <a:noAutofit/>
          </a:bodyPr>
          <a:p>
            <a:pPr>
              <a:lnSpc>
                <a:spcPct val="110000"/>
              </a:lnSpc>
            </a:pPr>
            <a:r>
              <a:rPr lang="en-US" sz="3200" b="1">
                <a:solidFill>
                  <a:srgbClr val="E3517A"/>
                </a:solidFill>
              </a:rPr>
              <a:t>try Weighting instead of duplicating</a:t>
            </a:r>
            <a:endParaRPr lang="en-US" sz="3200" b="1">
              <a:solidFill>
                <a:srgbClr val="002060"/>
              </a:solidFill>
            </a:endParaRPr>
          </a:p>
          <a:p>
            <a:pPr>
              <a:lnSpc>
                <a:spcPct val="110000"/>
              </a:lnSpc>
            </a:pPr>
            <a:r>
              <a:rPr lang="en-US" sz="3200">
                <a:solidFill>
                  <a:srgbClr val="002060"/>
                </a:solidFill>
              </a:rPr>
              <a:t>With HARD_WEIGHT_BONUS = 1.0, weighted test accuracy was 0.8240, same as one extra copy of each hard row before — that’s expected: one duplicate per point is very close to doubling its weight </a:t>
            </a:r>
            <a:endParaRPr lang="en-US" sz="3200">
              <a:solidFill>
                <a:srgbClr val="002060"/>
              </a:solidFill>
            </a:endParaRPr>
          </a:p>
          <a:p>
            <a:pPr>
              <a:lnSpc>
                <a:spcPct val="110000"/>
              </a:lnSpc>
            </a:pPr>
            <a:r>
              <a:rPr lang="en-US" sz="3200">
                <a:solidFill>
                  <a:srgbClr val="002060"/>
                </a:solidFill>
              </a:rPr>
              <a:t>Tune emphasis by changing HARD_WEIGHT_BONUS (e.g. 0.5 or 2.0) without growing the dataset.</a:t>
            </a:r>
            <a:endParaRPr lang="en-US" sz="32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C00000"/>
                </a:solidFill>
                <a:sym typeface="+mn-ea"/>
              </a:rPr>
              <a:t>Ways to use hard examples that often help</a:t>
            </a:r>
            <a:endParaRPr lang="en-US" sz="4000">
              <a:solidFill>
                <a:srgbClr val="C00000"/>
              </a:solidFill>
              <a:sym typeface="+mn-ea"/>
            </a:endParaRPr>
          </a:p>
        </p:txBody>
      </p:sp>
      <p:sp>
        <p:nvSpPr>
          <p:cNvPr id="3" name="Content Placeholder 2"/>
          <p:cNvSpPr>
            <a:spLocks noGrp="1"/>
          </p:cNvSpPr>
          <p:nvPr>
            <p:ph idx="1"/>
          </p:nvPr>
        </p:nvSpPr>
        <p:spPr>
          <a:xfrm>
            <a:off x="211455" y="1222375"/>
            <a:ext cx="11793220" cy="5254625"/>
          </a:xfrm>
        </p:spPr>
        <p:txBody>
          <a:bodyPr>
            <a:noAutofit/>
          </a:bodyPr>
          <a:p>
            <a:pPr>
              <a:lnSpc>
                <a:spcPct val="110000"/>
              </a:lnSpc>
            </a:pPr>
            <a:r>
              <a:rPr lang="en-US" sz="3200" b="1">
                <a:solidFill>
                  <a:srgbClr val="E3517A"/>
                </a:solidFill>
              </a:rPr>
              <a:t>Tune emphasis by changing HARD_WEIGHT_BONUS (e.g. 0.5 or 2.0) without growing the dataset.</a:t>
            </a:r>
            <a:endParaRPr lang="en-US" sz="3200" b="1">
              <a:solidFill>
                <a:srgbClr val="E3517A"/>
              </a:solidFill>
            </a:endParaRPr>
          </a:p>
          <a:p>
            <a:pPr>
              <a:lnSpc>
                <a:spcPct val="110000"/>
              </a:lnSpc>
            </a:pPr>
            <a:r>
              <a:rPr lang="en-US" sz="3200">
                <a:solidFill>
                  <a:srgbClr val="002060"/>
                </a:solidFill>
              </a:rPr>
              <a:t>On this split, bonus=0.0 (baseline weights) had the best test accuracy (0.84); larger bonuses slightly reduced it—so the sweep is doing its job: you can see when upweighting hard points helps or hurts without duplicating rows.</a:t>
            </a:r>
            <a:endParaRPr lang="en-US" sz="32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C00000"/>
                </a:solidFill>
                <a:sym typeface="+mn-ea"/>
              </a:rPr>
              <a:t>Ways to use hard examples that often help</a:t>
            </a:r>
            <a:endParaRPr lang="en-US" sz="4000">
              <a:solidFill>
                <a:srgbClr val="C00000"/>
              </a:solidFill>
              <a:sym typeface="+mn-ea"/>
            </a:endParaRPr>
          </a:p>
        </p:txBody>
      </p:sp>
      <p:sp>
        <p:nvSpPr>
          <p:cNvPr id="3" name="Content Placeholder 2"/>
          <p:cNvSpPr>
            <a:spLocks noGrp="1"/>
          </p:cNvSpPr>
          <p:nvPr>
            <p:ph idx="1"/>
          </p:nvPr>
        </p:nvSpPr>
        <p:spPr>
          <a:xfrm>
            <a:off x="211455" y="1222375"/>
            <a:ext cx="11793220" cy="5254625"/>
          </a:xfrm>
        </p:spPr>
        <p:txBody>
          <a:bodyPr>
            <a:noAutofit/>
          </a:bodyPr>
          <a:p>
            <a:pPr>
              <a:lnSpc>
                <a:spcPct val="110000"/>
              </a:lnSpc>
            </a:pPr>
            <a:r>
              <a:rPr lang="en-US" sz="3200" b="1">
                <a:solidFill>
                  <a:srgbClr val="E3517A"/>
                </a:solidFill>
              </a:rPr>
              <a:t>Can you work with hard samples and bring accuracy close to 90%</a:t>
            </a:r>
            <a:endParaRPr lang="en-US" sz="3200" b="1">
              <a:solidFill>
                <a:srgbClr val="E3517A"/>
              </a:solidFill>
            </a:endParaRPr>
          </a:p>
          <a:p>
            <a:pPr>
              <a:lnSpc>
                <a:spcPct val="110000"/>
              </a:lnSpc>
            </a:pPr>
            <a:r>
              <a:rPr lang="en-US" sz="3200">
                <a:solidFill>
                  <a:srgbClr val="002060"/>
                </a:solidFill>
              </a:rPr>
              <a:t>Linear logistic regression on raw coordinates can't reach ~90% on noisy moons. Adding polynomial features (nonlinear boundary in the original space) and combining it with hard-example weighting from a first-stage polynomial fit.</a:t>
            </a:r>
            <a:endParaRPr lang="en-US" sz="32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1207750" cy="963930"/>
          </a:xfrm>
        </p:spPr>
        <p:txBody>
          <a:bodyPr/>
          <a:p>
            <a:pPr algn="ctr"/>
            <a:r>
              <a:rPr lang="en-US" sz="4000">
                <a:solidFill>
                  <a:srgbClr val="FF0000"/>
                </a:solidFill>
              </a:rPr>
              <a:t>Case Study on OOP - Railway System</a:t>
            </a:r>
            <a:endParaRPr lang="en-US" sz="4000">
              <a:solidFill>
                <a:srgbClr val="FF0000"/>
              </a:solidFill>
            </a:endParaRPr>
          </a:p>
        </p:txBody>
      </p:sp>
      <p:sp>
        <p:nvSpPr>
          <p:cNvPr id="3" name="Content Placeholder 2"/>
          <p:cNvSpPr>
            <a:spLocks noGrp="1"/>
          </p:cNvSpPr>
          <p:nvPr>
            <p:ph idx="1"/>
          </p:nvPr>
        </p:nvSpPr>
        <p:spPr>
          <a:xfrm>
            <a:off x="211455" y="1223010"/>
            <a:ext cx="11793220" cy="5253990"/>
          </a:xfrm>
        </p:spPr>
        <p:txBody>
          <a:bodyPr/>
          <a:p>
            <a:pPr>
              <a:lnSpc>
                <a:spcPct val="140000"/>
              </a:lnSpc>
            </a:pPr>
            <a:r>
              <a:rPr lang="en-US" sz="3600">
                <a:solidFill>
                  <a:srgbClr val="002060"/>
                </a:solidFill>
              </a:rPr>
              <a:t>Create a railway system that depicts train booking system. Have relationships like passenger isa person, employee isa person and so on. Make a UML diagram as the first step</a:t>
            </a:r>
            <a:endParaRPr lang="en-US" sz="36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Railway System</a:t>
            </a:r>
            <a:endParaRPr lang="en-US" sz="4000">
              <a:solidFill>
                <a:srgbClr val="C00000"/>
              </a:solidFill>
            </a:endParaRPr>
          </a:p>
        </p:txBody>
      </p:sp>
      <p:sp>
        <p:nvSpPr>
          <p:cNvPr id="3" name="Content Placeholder 2"/>
          <p:cNvSpPr>
            <a:spLocks noGrp="1"/>
          </p:cNvSpPr>
          <p:nvPr>
            <p:ph idx="1"/>
          </p:nvPr>
        </p:nvSpPr>
        <p:spPr>
          <a:xfrm>
            <a:off x="296545" y="1136015"/>
            <a:ext cx="11708130" cy="5253355"/>
          </a:xfrm>
        </p:spPr>
        <p:txBody>
          <a:bodyPr/>
          <a:p>
            <a:pPr>
              <a:lnSpc>
                <a:spcPct val="140000"/>
              </a:lnSpc>
            </a:pPr>
            <a:r>
              <a:rPr lang="en-US" sz="3600">
                <a:solidFill>
                  <a:srgbClr val="002060"/>
                </a:solidFill>
              </a:rPr>
              <a:t>It created a .puml file</a:t>
            </a:r>
            <a:endParaRPr lang="en-US" sz="3600">
              <a:solidFill>
                <a:srgbClr val="002060"/>
              </a:solidFill>
            </a:endParaRPr>
          </a:p>
          <a:p>
            <a:pPr>
              <a:lnSpc>
                <a:spcPct val="140000"/>
              </a:lnSpc>
            </a:pPr>
            <a:r>
              <a:rPr lang="en-US" sz="3600" b="1">
                <a:solidFill>
                  <a:srgbClr val="E3517A"/>
                </a:solidFill>
              </a:rPr>
              <a:t>Create a a rendered PNG/SVG image from this .puml file.</a:t>
            </a:r>
            <a:endParaRPr lang="en-US" sz="3600" b="1">
              <a:solidFill>
                <a:srgbClr val="E3517A"/>
              </a:solidFill>
            </a:endParaRPr>
          </a:p>
          <a:p>
            <a:pPr>
              <a:lnSpc>
                <a:spcPct val="140000"/>
              </a:lnSpc>
            </a:pPr>
            <a:r>
              <a:rPr lang="en-US" sz="3600">
                <a:solidFill>
                  <a:srgbClr val="002060"/>
                </a:solidFill>
              </a:rPr>
              <a:t>Agent made it</a:t>
            </a:r>
            <a:endParaRPr lang="en-US" sz="3600" b="1">
              <a:solidFill>
                <a:srgbClr val="E3517A"/>
              </a:solidFill>
            </a:endParaRPr>
          </a:p>
          <a:p>
            <a:pPr>
              <a:lnSpc>
                <a:spcPct val="140000"/>
              </a:lnSpc>
            </a:pPr>
            <a:r>
              <a:rPr lang="en-US" sz="3600" b="1">
                <a:solidFill>
                  <a:srgbClr val="E3517A"/>
                </a:solidFill>
              </a:rPr>
              <a:t>Change personID to aadhar number</a:t>
            </a:r>
            <a:endParaRPr lang="en-US" sz="3600" b="1">
              <a:solidFill>
                <a:srgbClr val="E3517A"/>
              </a:solidFill>
            </a:endParaRPr>
          </a:p>
          <a:p>
            <a:pPr>
              <a:lnSpc>
                <a:spcPct val="140000"/>
              </a:lnSpc>
            </a:pPr>
            <a:r>
              <a:rPr lang="en-US" sz="3600">
                <a:solidFill>
                  <a:srgbClr val="002060"/>
                </a:solidFill>
                <a:sym typeface="+mn-ea"/>
              </a:rPr>
              <a:t>Agent made it</a:t>
            </a:r>
            <a:endParaRPr lang="en-US" sz="3600">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Railway System</a:t>
            </a:r>
            <a:endParaRPr lang="en-US" sz="4000">
              <a:solidFill>
                <a:srgbClr val="C00000"/>
              </a:solidFill>
            </a:endParaRPr>
          </a:p>
        </p:txBody>
      </p:sp>
      <p:sp>
        <p:nvSpPr>
          <p:cNvPr id="3" name="Content Placeholder 2"/>
          <p:cNvSpPr>
            <a:spLocks noGrp="1"/>
          </p:cNvSpPr>
          <p:nvPr>
            <p:ph idx="1"/>
          </p:nvPr>
        </p:nvSpPr>
        <p:spPr>
          <a:xfrm>
            <a:off x="296545" y="1136015"/>
            <a:ext cx="11708130" cy="5253355"/>
          </a:xfrm>
        </p:spPr>
        <p:txBody>
          <a:bodyPr/>
          <a:p>
            <a:pPr>
              <a:lnSpc>
                <a:spcPct val="140000"/>
              </a:lnSpc>
            </a:pPr>
            <a:r>
              <a:rPr lang="en-US" sz="3600">
                <a:solidFill>
                  <a:srgbClr val="E3517A"/>
                </a:solidFill>
              </a:rPr>
              <a:t>Create the classes in the UML diagram</a:t>
            </a:r>
            <a:endParaRPr lang="en-US" sz="3600">
              <a:solidFill>
                <a:srgbClr val="E3517A"/>
              </a:solidFill>
            </a:endParaRPr>
          </a:p>
          <a:p>
            <a:pPr>
              <a:lnSpc>
                <a:spcPct val="140000"/>
              </a:lnSpc>
            </a:pPr>
            <a:r>
              <a:rPr lang="en-US" sz="3600">
                <a:solidFill>
                  <a:srgbClr val="002060"/>
                </a:solidFill>
              </a:rPr>
              <a:t>Agent started creating in Python - Stopped execution</a:t>
            </a:r>
            <a:endParaRPr lang="en-US" sz="3600">
              <a:solidFill>
                <a:srgbClr val="002060"/>
              </a:solidFill>
            </a:endParaRPr>
          </a:p>
          <a:p>
            <a:pPr>
              <a:lnSpc>
                <a:spcPct val="140000"/>
              </a:lnSpc>
            </a:pPr>
            <a:r>
              <a:rPr lang="en-US" sz="3600">
                <a:solidFill>
                  <a:srgbClr val="E3517A"/>
                </a:solidFill>
              </a:rPr>
              <a:t>Create the classes using Java</a:t>
            </a:r>
            <a:endParaRPr lang="en-US" sz="3600">
              <a:solidFill>
                <a:srgbClr val="002060"/>
              </a:solidFill>
            </a:endParaRPr>
          </a:p>
          <a:p>
            <a:pPr>
              <a:lnSpc>
                <a:spcPct val="140000"/>
              </a:lnSpc>
            </a:pPr>
            <a:r>
              <a:rPr lang="en-US" sz="3600">
                <a:solidFill>
                  <a:srgbClr val="002060"/>
                </a:solidFill>
              </a:rPr>
              <a:t>All classes were created in a single file - Less readability</a:t>
            </a:r>
            <a:endParaRPr lang="en-US" sz="3600">
              <a:solidFill>
                <a:srgbClr val="002060"/>
              </a:solidFill>
            </a:endParaRPr>
          </a:p>
          <a:p>
            <a:pPr>
              <a:lnSpc>
                <a:spcPct val="140000"/>
              </a:lnSpc>
            </a:pPr>
            <a:r>
              <a:rPr lang="en-US" sz="3600">
                <a:solidFill>
                  <a:srgbClr val="E3517A"/>
                </a:solidFill>
              </a:rPr>
              <a:t>Create one file for one class</a:t>
            </a:r>
            <a:endParaRPr lang="en-US" sz="3600">
              <a:solidFill>
                <a:srgbClr val="E3517A"/>
              </a:solidFill>
            </a:endParaRPr>
          </a:p>
          <a:p>
            <a:pPr>
              <a:lnSpc>
                <a:spcPct val="140000"/>
              </a:lnSpc>
            </a:pPr>
            <a:endParaRPr lang="en-US" sz="3600">
              <a:solidFill>
                <a:srgbClr val="E3517A"/>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Railway System</a:t>
            </a:r>
            <a:endParaRPr lang="en-US" sz="4000">
              <a:solidFill>
                <a:srgbClr val="C00000"/>
              </a:solidFill>
            </a:endParaRPr>
          </a:p>
        </p:txBody>
      </p:sp>
      <p:sp>
        <p:nvSpPr>
          <p:cNvPr id="3" name="Content Placeholder 2"/>
          <p:cNvSpPr>
            <a:spLocks noGrp="1"/>
          </p:cNvSpPr>
          <p:nvPr>
            <p:ph idx="1"/>
          </p:nvPr>
        </p:nvSpPr>
        <p:spPr>
          <a:xfrm>
            <a:off x="296545" y="1136015"/>
            <a:ext cx="11708130" cy="5253355"/>
          </a:xfrm>
        </p:spPr>
        <p:txBody>
          <a:bodyPr/>
          <a:p>
            <a:pPr>
              <a:lnSpc>
                <a:spcPct val="140000"/>
              </a:lnSpc>
            </a:pPr>
            <a:r>
              <a:rPr lang="en-US" sz="3600">
                <a:solidFill>
                  <a:srgbClr val="11AD57"/>
                </a:solidFill>
              </a:rPr>
              <a:t>Whether compile time and run time polymorphism is added in the code</a:t>
            </a:r>
            <a:endParaRPr lang="en-US" sz="3600">
              <a:gradFill>
                <a:gsLst>
                  <a:gs pos="0">
                    <a:srgbClr val="14CD68"/>
                  </a:gs>
                  <a:gs pos="100000">
                    <a:srgbClr val="0B6E38"/>
                  </a:gs>
                </a:gsLst>
                <a:lin scaled="0"/>
              </a:gradFill>
            </a:endParaRPr>
          </a:p>
          <a:p>
            <a:pPr>
              <a:lnSpc>
                <a:spcPct val="140000"/>
              </a:lnSpc>
            </a:pPr>
            <a:r>
              <a:rPr lang="en-US" sz="3600">
                <a:solidFill>
                  <a:srgbClr val="002060"/>
                </a:solidFill>
              </a:rPr>
              <a:t>Not yet — not explicitly</a:t>
            </a:r>
            <a:endParaRPr lang="en-US" sz="3600">
              <a:solidFill>
                <a:srgbClr val="002060"/>
              </a:solidFill>
            </a:endParaRPr>
          </a:p>
          <a:p>
            <a:pPr>
              <a:lnSpc>
                <a:spcPct val="140000"/>
              </a:lnSpc>
            </a:pPr>
            <a:r>
              <a:rPr lang="en-US" sz="3600">
                <a:solidFill>
                  <a:srgbClr val="11AD57"/>
                </a:solidFill>
              </a:rPr>
              <a:t>In which part of the code, compile time and run time polymorphism can be added</a:t>
            </a:r>
            <a:endParaRPr lang="en-US" sz="3600">
              <a:solidFill>
                <a:srgbClr val="11AD57"/>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Railway System</a:t>
            </a:r>
            <a:endParaRPr lang="en-US" sz="4000">
              <a:solidFill>
                <a:srgbClr val="C00000"/>
              </a:solidFill>
            </a:endParaRPr>
          </a:p>
        </p:txBody>
      </p:sp>
      <p:sp>
        <p:nvSpPr>
          <p:cNvPr id="3" name="Content Placeholder 2"/>
          <p:cNvSpPr>
            <a:spLocks noGrp="1"/>
          </p:cNvSpPr>
          <p:nvPr>
            <p:ph idx="1"/>
          </p:nvPr>
        </p:nvSpPr>
        <p:spPr>
          <a:xfrm>
            <a:off x="296545" y="1136015"/>
            <a:ext cx="11708130" cy="5253355"/>
          </a:xfrm>
        </p:spPr>
        <p:txBody>
          <a:bodyPr/>
          <a:p>
            <a:pPr>
              <a:lnSpc>
                <a:spcPct val="140000"/>
              </a:lnSpc>
            </a:pPr>
            <a:r>
              <a:rPr lang="en-US" sz="3600">
                <a:solidFill>
                  <a:srgbClr val="E3517A"/>
                </a:solidFill>
              </a:rPr>
              <a:t>Add compile time and run time polymorphism </a:t>
            </a:r>
            <a:endParaRPr lang="en-US" sz="3600">
              <a:solidFill>
                <a:srgbClr val="E3517A"/>
              </a:solidFill>
            </a:endParaRPr>
          </a:p>
          <a:p>
            <a:pPr>
              <a:lnSpc>
                <a:spcPct val="140000"/>
              </a:lnSpc>
            </a:pPr>
            <a:r>
              <a:rPr lang="en-US" sz="3600">
                <a:solidFill>
                  <a:srgbClr val="11AD57"/>
                </a:solidFill>
              </a:rPr>
              <a:t>Do we have abstract classes and interfaces?</a:t>
            </a:r>
            <a:endParaRPr lang="en-US" sz="3600">
              <a:solidFill>
                <a:srgbClr val="11AD57"/>
              </a:solidFill>
            </a:endParaRPr>
          </a:p>
          <a:p>
            <a:pPr>
              <a:lnSpc>
                <a:spcPct val="140000"/>
              </a:lnSpc>
            </a:pPr>
            <a:r>
              <a:rPr lang="en-US" sz="3600">
                <a:solidFill>
                  <a:srgbClr val="002060"/>
                </a:solidFill>
              </a:rPr>
              <a:t>You currently have abstract classes, but no interfaces.</a:t>
            </a:r>
            <a:endParaRPr lang="en-US" sz="3600">
              <a:solidFill>
                <a:srgbClr val="002060"/>
              </a:solidFill>
            </a:endParaRPr>
          </a:p>
          <a:p>
            <a:pPr>
              <a:lnSpc>
                <a:spcPct val="140000"/>
              </a:lnSpc>
            </a:pPr>
            <a:r>
              <a:rPr lang="en-US" sz="3600">
                <a:solidFill>
                  <a:srgbClr val="002060"/>
                </a:solidFill>
              </a:rPr>
              <a:t>If you want, I can add a clean interface layer next (for example Bookable, Payable, Verifiable) and wire it into existing classes.</a:t>
            </a:r>
            <a:endParaRPr lang="en-US" sz="36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Railway System</a:t>
            </a:r>
            <a:endParaRPr lang="en-US" sz="4000">
              <a:solidFill>
                <a:srgbClr val="C00000"/>
              </a:solidFill>
            </a:endParaRPr>
          </a:p>
        </p:txBody>
      </p:sp>
      <p:sp>
        <p:nvSpPr>
          <p:cNvPr id="3" name="Content Placeholder 2"/>
          <p:cNvSpPr>
            <a:spLocks noGrp="1"/>
          </p:cNvSpPr>
          <p:nvPr>
            <p:ph idx="1"/>
          </p:nvPr>
        </p:nvSpPr>
        <p:spPr>
          <a:xfrm>
            <a:off x="296545" y="1136015"/>
            <a:ext cx="11708130" cy="5253355"/>
          </a:xfrm>
        </p:spPr>
        <p:txBody>
          <a:bodyPr/>
          <a:p>
            <a:pPr>
              <a:lnSpc>
                <a:spcPct val="140000"/>
              </a:lnSpc>
            </a:pPr>
            <a:r>
              <a:rPr lang="en-US" sz="3600">
                <a:solidFill>
                  <a:srgbClr val="E3517A"/>
                </a:solidFill>
              </a:rPr>
              <a:t>Add a clean interface layer next (for example Bookable, Payable, Verifiable) and wire it into existing classes.</a:t>
            </a:r>
            <a:endParaRPr lang="en-US" sz="3600">
              <a:solidFill>
                <a:srgbClr val="E3517A"/>
              </a:solidFill>
            </a:endParaRPr>
          </a:p>
          <a:p>
            <a:pPr>
              <a:lnSpc>
                <a:spcPct val="140000"/>
              </a:lnSpc>
            </a:pPr>
            <a:r>
              <a:rPr lang="en-US" sz="3600">
                <a:solidFill>
                  <a:srgbClr val="11AD57"/>
                </a:solidFill>
              </a:rPr>
              <a:t>Whether we have got StringBuilder in the code? </a:t>
            </a:r>
            <a:endParaRPr lang="en-US" sz="3600">
              <a:solidFill>
                <a:srgbClr val="11AD57"/>
              </a:solidFill>
            </a:endParaRPr>
          </a:p>
          <a:p>
            <a:pPr>
              <a:lnSpc>
                <a:spcPct val="140000"/>
              </a:lnSpc>
            </a:pPr>
            <a:r>
              <a:rPr lang="en-US" sz="3600">
                <a:solidFill>
                  <a:srgbClr val="002060"/>
                </a:solidFill>
              </a:rPr>
              <a:t>No</a:t>
            </a:r>
            <a:endParaRPr lang="en-US" sz="3600">
              <a:solidFill>
                <a:srgbClr val="11AD57"/>
              </a:solidFill>
            </a:endParaRPr>
          </a:p>
          <a:p>
            <a:pPr>
              <a:lnSpc>
                <a:spcPct val="140000"/>
              </a:lnSpc>
            </a:pPr>
            <a:r>
              <a:rPr lang="en-US" sz="3600">
                <a:solidFill>
                  <a:srgbClr val="11AD57"/>
                </a:solidFill>
              </a:rPr>
              <a:t>Is there a place in which StringBuilder maybe more appropriate than String?</a:t>
            </a:r>
            <a:endParaRPr lang="en-US" sz="3600">
              <a:solidFill>
                <a:srgbClr val="11AD57"/>
              </a:solidFill>
            </a:endParaRPr>
          </a:p>
          <a:p>
            <a:pPr>
              <a:lnSpc>
                <a:spcPct val="140000"/>
              </a:lnSpc>
            </a:pPr>
            <a:endParaRPr lang="en-US" sz="3600">
              <a:solidFill>
                <a:srgbClr val="11AD57"/>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Railway System</a:t>
            </a:r>
            <a:endParaRPr lang="en-US" sz="4000">
              <a:solidFill>
                <a:srgbClr val="C00000"/>
              </a:solidFill>
            </a:endParaRPr>
          </a:p>
        </p:txBody>
      </p:sp>
      <p:sp>
        <p:nvSpPr>
          <p:cNvPr id="3" name="Content Placeholder 2"/>
          <p:cNvSpPr>
            <a:spLocks noGrp="1"/>
          </p:cNvSpPr>
          <p:nvPr>
            <p:ph idx="1"/>
          </p:nvPr>
        </p:nvSpPr>
        <p:spPr>
          <a:xfrm>
            <a:off x="296545" y="1136015"/>
            <a:ext cx="11708130" cy="5253355"/>
          </a:xfrm>
        </p:spPr>
        <p:txBody>
          <a:bodyPr/>
          <a:p>
            <a:pPr>
              <a:lnSpc>
                <a:spcPct val="140000"/>
              </a:lnSpc>
            </a:pPr>
            <a:r>
              <a:rPr lang="en-US" sz="3600">
                <a:solidFill>
                  <a:srgbClr val="002060"/>
                </a:solidFill>
              </a:rPr>
              <a:t>Where StringBuilder would become appropriate:</a:t>
            </a:r>
            <a:endParaRPr lang="en-US" sz="3600">
              <a:solidFill>
                <a:srgbClr val="002060"/>
              </a:solidFill>
            </a:endParaRPr>
          </a:p>
          <a:p>
            <a:pPr>
              <a:lnSpc>
                <a:spcPct val="140000"/>
              </a:lnSpc>
            </a:pPr>
            <a:r>
              <a:rPr lang="en-US" sz="3600">
                <a:solidFill>
                  <a:srgbClr val="002060"/>
                </a:solidFill>
              </a:rPr>
              <a:t>If you add methods that build long text output in loops (e.g., booking summary, route report, ticket list), especially in ReservationSystem or Booking.</a:t>
            </a:r>
            <a:endParaRPr lang="en-US" sz="3600">
              <a:solidFill>
                <a:srgbClr val="002060"/>
              </a:solidFill>
            </a:endParaRPr>
          </a:p>
          <a:p>
            <a:pPr>
              <a:lnSpc>
                <a:spcPct val="140000"/>
              </a:lnSpc>
            </a:pPr>
            <a:r>
              <a:rPr lang="en-US" sz="3600">
                <a:solidFill>
                  <a:srgbClr val="11AD57"/>
                </a:solidFill>
              </a:rPr>
              <a:t>Why do you tell StringBuilder will be more appropriate for long text?</a:t>
            </a:r>
            <a:endParaRPr lang="en-US" sz="3600">
              <a:solidFill>
                <a:srgbClr val="11AD57"/>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Railway System</a:t>
            </a:r>
            <a:endParaRPr lang="en-US" sz="4000">
              <a:solidFill>
                <a:srgbClr val="C00000"/>
              </a:solidFill>
            </a:endParaRPr>
          </a:p>
        </p:txBody>
      </p:sp>
      <p:sp>
        <p:nvSpPr>
          <p:cNvPr id="3" name="Content Placeholder 2"/>
          <p:cNvSpPr>
            <a:spLocks noGrp="1"/>
          </p:cNvSpPr>
          <p:nvPr>
            <p:ph idx="1"/>
          </p:nvPr>
        </p:nvSpPr>
        <p:spPr>
          <a:xfrm>
            <a:off x="296545" y="900430"/>
            <a:ext cx="11708130" cy="5756910"/>
          </a:xfrm>
        </p:spPr>
        <p:txBody>
          <a:bodyPr>
            <a:noAutofit/>
          </a:bodyPr>
          <a:p>
            <a:pPr>
              <a:lnSpc>
                <a:spcPct val="140000"/>
              </a:lnSpc>
            </a:pPr>
            <a:r>
              <a:rPr lang="en-US" sz="3600">
                <a:solidFill>
                  <a:srgbClr val="002060"/>
                </a:solidFill>
              </a:rPr>
              <a:t>Ok add a reservationSummary as a StringBuilder object</a:t>
            </a:r>
            <a:endParaRPr lang="en-US" sz="3600">
              <a:solidFill>
                <a:srgbClr val="002060"/>
              </a:solidFill>
            </a:endParaRPr>
          </a:p>
          <a:p>
            <a:pPr>
              <a:lnSpc>
                <a:spcPct val="140000"/>
              </a:lnSpc>
            </a:pPr>
            <a:r>
              <a:rPr lang="en-US" sz="3600">
                <a:solidFill>
                  <a:srgbClr val="11AD57"/>
                </a:solidFill>
              </a:rPr>
              <a:t>Where serialization can be added in this code?</a:t>
            </a:r>
            <a:endParaRPr lang="en-US" sz="3600">
              <a:solidFill>
                <a:srgbClr val="11AD57"/>
              </a:solidFill>
            </a:endParaRPr>
          </a:p>
          <a:p>
            <a:pPr>
              <a:lnSpc>
                <a:spcPct val="140000"/>
              </a:lnSpc>
            </a:pPr>
            <a:r>
              <a:rPr lang="en-US" sz="3600">
                <a:solidFill>
                  <a:srgbClr val="002060"/>
                </a:solidFill>
              </a:rPr>
              <a:t>Good place to add serialization is your domain/model classes — the ones representing booking state that you may want to save/load.</a:t>
            </a:r>
            <a:endParaRPr lang="en-US" sz="3600">
              <a:solidFill>
                <a:srgbClr val="002060"/>
              </a:solidFill>
            </a:endParaRPr>
          </a:p>
          <a:p>
            <a:pPr>
              <a:lnSpc>
                <a:spcPct val="140000"/>
              </a:lnSpc>
            </a:pPr>
            <a:r>
              <a:rPr lang="en-US" sz="3600">
                <a:solidFill>
                  <a:srgbClr val="002060"/>
                </a:solidFill>
              </a:rPr>
              <a:t>Best classes to serialize</a:t>
            </a:r>
            <a:endParaRPr lang="en-US" sz="3600">
              <a:solidFill>
                <a:srgbClr val="002060"/>
              </a:solidFill>
            </a:endParaRPr>
          </a:p>
          <a:p>
            <a:pPr>
              <a:lnSpc>
                <a:spcPct val="140000"/>
              </a:lnSpc>
            </a:pPr>
            <a:r>
              <a:rPr lang="en-US" sz="3600">
                <a:solidFill>
                  <a:srgbClr val="002060"/>
                </a:solidFill>
              </a:rPr>
              <a:t>Start with these files: Booking.java</a:t>
            </a:r>
            <a:endParaRPr lang="en-US" sz="36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Railway System</a:t>
            </a:r>
            <a:endParaRPr lang="en-US" sz="4000">
              <a:solidFill>
                <a:srgbClr val="C00000"/>
              </a:solidFill>
            </a:endParaRPr>
          </a:p>
        </p:txBody>
      </p:sp>
      <p:sp>
        <p:nvSpPr>
          <p:cNvPr id="3" name="Content Placeholder 2"/>
          <p:cNvSpPr>
            <a:spLocks noGrp="1"/>
          </p:cNvSpPr>
          <p:nvPr>
            <p:ph idx="1"/>
          </p:nvPr>
        </p:nvSpPr>
        <p:spPr>
          <a:xfrm>
            <a:off x="296545" y="1136015"/>
            <a:ext cx="11708130" cy="5253355"/>
          </a:xfrm>
        </p:spPr>
        <p:txBody>
          <a:bodyPr>
            <a:normAutofit/>
          </a:bodyPr>
          <a:p>
            <a:pPr>
              <a:lnSpc>
                <a:spcPct val="140000"/>
              </a:lnSpc>
            </a:pPr>
            <a:r>
              <a:rPr lang="en-US" sz="3600">
                <a:solidFill>
                  <a:srgbClr val="11AD57"/>
                </a:solidFill>
              </a:rPr>
              <a:t>Check if exception handling is added</a:t>
            </a:r>
            <a:endParaRPr lang="en-US" sz="3600">
              <a:solidFill>
                <a:srgbClr val="002060"/>
              </a:solidFill>
            </a:endParaRPr>
          </a:p>
          <a:p>
            <a:pPr>
              <a:lnSpc>
                <a:spcPct val="140000"/>
              </a:lnSpc>
            </a:pPr>
            <a:r>
              <a:rPr lang="en-US" sz="3600">
                <a:solidFill>
                  <a:srgbClr val="002060"/>
                </a:solidFill>
              </a:rPr>
              <a:t>So currently:</a:t>
            </a:r>
            <a:endParaRPr lang="en-US" sz="3600">
              <a:solidFill>
                <a:srgbClr val="002060"/>
              </a:solidFill>
            </a:endParaRPr>
          </a:p>
          <a:p>
            <a:pPr>
              <a:lnSpc>
                <a:spcPct val="140000"/>
              </a:lnSpc>
            </a:pPr>
            <a:r>
              <a:rPr lang="en-US" sz="3600">
                <a:solidFill>
                  <a:srgbClr val="002060"/>
                </a:solidFill>
              </a:rPr>
              <a:t>Validation exists</a:t>
            </a:r>
            <a:endParaRPr lang="en-US" sz="3600">
              <a:solidFill>
                <a:srgbClr val="002060"/>
              </a:solidFill>
            </a:endParaRPr>
          </a:p>
          <a:p>
            <a:pPr>
              <a:lnSpc>
                <a:spcPct val="140000"/>
              </a:lnSpc>
            </a:pPr>
            <a:r>
              <a:rPr lang="en-US" sz="3600">
                <a:solidFill>
                  <a:srgbClr val="002060"/>
                </a:solidFill>
              </a:rPr>
              <a:t>Exception handling blocks do not exist</a:t>
            </a:r>
            <a:endParaRPr lang="en-US" sz="3600">
              <a:solidFill>
                <a:srgbClr val="002060"/>
              </a:solidFill>
            </a:endParaRPr>
          </a:p>
          <a:p>
            <a:pPr>
              <a:lnSpc>
                <a:spcPct val="140000"/>
              </a:lnSpc>
            </a:pPr>
            <a:r>
              <a:rPr lang="en-US" sz="3600">
                <a:solidFill>
                  <a:srgbClr val="E3517A"/>
                </a:solidFill>
              </a:rPr>
              <a:t>Add exception handling to the code. Add a user defined exception as well</a:t>
            </a:r>
            <a:endParaRPr lang="en-US" sz="3600">
              <a:solidFill>
                <a:srgbClr val="E3517A"/>
              </a:solidFill>
            </a:endParaRPr>
          </a:p>
          <a:p>
            <a:pPr>
              <a:lnSpc>
                <a:spcPct val="140000"/>
              </a:lnSpc>
            </a:pPr>
            <a:endParaRPr lang="en-US" sz="3600">
              <a:solidFill>
                <a:srgbClr val="E3517A"/>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Railway System</a:t>
            </a:r>
            <a:endParaRPr lang="en-US" sz="4000">
              <a:solidFill>
                <a:srgbClr val="C00000"/>
              </a:solidFill>
            </a:endParaRPr>
          </a:p>
        </p:txBody>
      </p:sp>
      <p:sp>
        <p:nvSpPr>
          <p:cNvPr id="3" name="Content Placeholder 2"/>
          <p:cNvSpPr>
            <a:spLocks noGrp="1"/>
          </p:cNvSpPr>
          <p:nvPr>
            <p:ph idx="1"/>
          </p:nvPr>
        </p:nvSpPr>
        <p:spPr>
          <a:xfrm>
            <a:off x="296545" y="1136015"/>
            <a:ext cx="11708130" cy="5253355"/>
          </a:xfrm>
        </p:spPr>
        <p:txBody>
          <a:bodyPr>
            <a:normAutofit/>
          </a:bodyPr>
          <a:p>
            <a:pPr>
              <a:lnSpc>
                <a:spcPct val="140000"/>
              </a:lnSpc>
            </a:pPr>
            <a:r>
              <a:rPr lang="en-US" sz="3600">
                <a:solidFill>
                  <a:srgbClr val="002060"/>
                </a:solidFill>
              </a:rPr>
              <a:t>Added only user defined exception</a:t>
            </a:r>
            <a:endParaRPr lang="en-US" sz="3600">
              <a:solidFill>
                <a:srgbClr val="002060"/>
              </a:solidFill>
            </a:endParaRPr>
          </a:p>
          <a:p>
            <a:pPr>
              <a:lnSpc>
                <a:spcPct val="140000"/>
              </a:lnSpc>
            </a:pPr>
            <a:r>
              <a:rPr lang="en-US" sz="3600">
                <a:solidFill>
                  <a:srgbClr val="E3517A"/>
                </a:solidFill>
              </a:rPr>
              <a:t>Add built-in exceptions appropriately in all the places</a:t>
            </a:r>
            <a:endParaRPr lang="en-US" sz="3600">
              <a:solidFill>
                <a:srgbClr val="E3517A"/>
              </a:solidFill>
            </a:endParaRPr>
          </a:p>
          <a:p>
            <a:pPr>
              <a:lnSpc>
                <a:spcPct val="140000"/>
              </a:lnSpc>
            </a:pPr>
            <a:r>
              <a:rPr lang="en-US" sz="3600">
                <a:solidFill>
                  <a:srgbClr val="002060"/>
                </a:solidFill>
              </a:rPr>
              <a:t>It added - Input validation (IllegalArgumentException)</a:t>
            </a:r>
            <a:endParaRPr lang="en-US" sz="3600">
              <a:solidFill>
                <a:srgbClr val="002060"/>
              </a:solidFill>
            </a:endParaRPr>
          </a:p>
          <a:p>
            <a:pPr>
              <a:lnSpc>
                <a:spcPct val="140000"/>
              </a:lnSpc>
            </a:pPr>
            <a:r>
              <a:rPr lang="en-US" sz="3600">
                <a:solidFill>
                  <a:srgbClr val="E3517A"/>
                </a:solidFill>
              </a:rPr>
              <a:t>I wanted to add try catch throws appropraite in the code</a:t>
            </a:r>
            <a:endParaRPr lang="en-US" sz="3600">
              <a:solidFill>
                <a:srgbClr val="E3517A"/>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Railway System</a:t>
            </a:r>
            <a:endParaRPr lang="en-US" sz="4000">
              <a:solidFill>
                <a:srgbClr val="C00000"/>
              </a:solidFill>
            </a:endParaRPr>
          </a:p>
        </p:txBody>
      </p:sp>
      <p:sp>
        <p:nvSpPr>
          <p:cNvPr id="3" name="Content Placeholder 2"/>
          <p:cNvSpPr>
            <a:spLocks noGrp="1"/>
          </p:cNvSpPr>
          <p:nvPr>
            <p:ph idx="1"/>
          </p:nvPr>
        </p:nvSpPr>
        <p:spPr>
          <a:xfrm>
            <a:off x="296545" y="1136015"/>
            <a:ext cx="11708130" cy="5253355"/>
          </a:xfrm>
        </p:spPr>
        <p:txBody>
          <a:bodyPr>
            <a:normAutofit/>
          </a:bodyPr>
          <a:p>
            <a:pPr>
              <a:lnSpc>
                <a:spcPct val="140000"/>
              </a:lnSpc>
            </a:pPr>
            <a:r>
              <a:rPr lang="en-US" sz="3600">
                <a:solidFill>
                  <a:srgbClr val="00B050"/>
                </a:solidFill>
              </a:rPr>
              <a:t>Where multithreading shall be added?</a:t>
            </a:r>
            <a:endParaRPr lang="en-US" sz="3600">
              <a:solidFill>
                <a:srgbClr val="00B050"/>
              </a:solidFill>
            </a:endParaRPr>
          </a:p>
          <a:p>
            <a:pPr>
              <a:lnSpc>
                <a:spcPct val="140000"/>
              </a:lnSpc>
            </a:pPr>
            <a:r>
              <a:rPr lang="en-US" sz="3600">
                <a:solidFill>
                  <a:srgbClr val="002060"/>
                </a:solidFill>
              </a:rPr>
              <a:t>Add locking in createBooking(...) (highest priority).</a:t>
            </a:r>
            <a:endParaRPr lang="en-US" sz="3600">
              <a:solidFill>
                <a:srgbClr val="002060"/>
              </a:solidFill>
            </a:endParaRPr>
          </a:p>
          <a:p>
            <a:pPr>
              <a:lnSpc>
                <a:spcPct val="140000"/>
              </a:lnSpc>
            </a:pPr>
            <a:r>
              <a:rPr lang="en-US" sz="3600">
                <a:solidFill>
                  <a:srgbClr val="002060"/>
                </a:solidFill>
              </a:rPr>
              <a:t>Make shared collections thread-safe strategy (ReadWriteLock / synchronized access).</a:t>
            </a:r>
            <a:endParaRPr lang="en-US" sz="3600">
              <a:solidFill>
                <a:srgbClr val="002060"/>
              </a:solidFill>
            </a:endParaRPr>
          </a:p>
          <a:p>
            <a:pPr>
              <a:lnSpc>
                <a:spcPct val="140000"/>
              </a:lnSpc>
            </a:pPr>
            <a:r>
              <a:rPr lang="en-US" sz="3600">
                <a:solidFill>
                  <a:srgbClr val="002060"/>
                </a:solidFill>
              </a:rPr>
              <a:t>Make payment async if needed.</a:t>
            </a:r>
            <a:endParaRPr lang="en-US" sz="36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Railway System</a:t>
            </a:r>
            <a:endParaRPr lang="en-US" sz="4000">
              <a:solidFill>
                <a:srgbClr val="C00000"/>
              </a:solidFill>
            </a:endParaRPr>
          </a:p>
        </p:txBody>
      </p:sp>
      <p:sp>
        <p:nvSpPr>
          <p:cNvPr id="3" name="Content Placeholder 2"/>
          <p:cNvSpPr>
            <a:spLocks noGrp="1"/>
          </p:cNvSpPr>
          <p:nvPr>
            <p:ph idx="1"/>
          </p:nvPr>
        </p:nvSpPr>
        <p:spPr>
          <a:xfrm>
            <a:off x="296545" y="1136015"/>
            <a:ext cx="11708130" cy="5253355"/>
          </a:xfrm>
        </p:spPr>
        <p:txBody>
          <a:bodyPr>
            <a:normAutofit/>
          </a:bodyPr>
          <a:p>
            <a:pPr>
              <a:lnSpc>
                <a:spcPct val="140000"/>
              </a:lnSpc>
            </a:pPr>
            <a:r>
              <a:rPr lang="en-US" sz="3600">
                <a:solidFill>
                  <a:srgbClr val="E3517A"/>
                </a:solidFill>
              </a:rPr>
              <a:t>Add multithreading in this code</a:t>
            </a:r>
            <a:endParaRPr lang="en-US" sz="3600">
              <a:solidFill>
                <a:srgbClr val="002060"/>
              </a:solidFill>
            </a:endParaRPr>
          </a:p>
          <a:p>
            <a:pPr>
              <a:lnSpc>
                <a:spcPct val="140000"/>
              </a:lnSpc>
            </a:pPr>
            <a:r>
              <a:rPr lang="en-US" sz="3600">
                <a:solidFill>
                  <a:srgbClr val="00B050"/>
                </a:solidFill>
              </a:rPr>
              <a:t>Is it possible to have generic classes and objects in this code?</a:t>
            </a:r>
            <a:endParaRPr lang="en-US" sz="3600">
              <a:solidFill>
                <a:srgbClr val="00B050"/>
              </a:solidFill>
            </a:endParaRPr>
          </a:p>
          <a:p>
            <a:pPr>
              <a:lnSpc>
                <a:spcPct val="140000"/>
              </a:lnSpc>
            </a:pPr>
            <a:r>
              <a:rPr lang="en-US" sz="3600">
                <a:solidFill>
                  <a:srgbClr val="002060"/>
                </a:solidFill>
              </a:rPr>
              <a:t> yes — your domain is a good fit for generics beyond just List&lt;T&gt;.</a:t>
            </a:r>
            <a:endParaRPr lang="en-US" sz="3600">
              <a:solidFill>
                <a:srgbClr val="002060"/>
              </a:solidFill>
            </a:endParaRPr>
          </a:p>
          <a:p>
            <a:pPr>
              <a:lnSpc>
                <a:spcPct val="140000"/>
              </a:lnSpc>
            </a:pPr>
            <a:r>
              <a:rPr lang="en-US" sz="3600">
                <a:solidFill>
                  <a:srgbClr val="002060"/>
                </a:solidFill>
              </a:rPr>
              <a:t>If you want, I can suggest 2–3 concrete generic class designs tailored to your current files (minimal refactor style)</a:t>
            </a:r>
            <a:endParaRPr lang="en-US" sz="3600">
              <a:solidFill>
                <a:srgbClr val="002060"/>
              </a:solidFill>
            </a:endParaRPr>
          </a:p>
          <a:p>
            <a:pPr>
              <a:lnSpc>
                <a:spcPct val="140000"/>
              </a:lnSpc>
            </a:pPr>
            <a:endParaRPr lang="en-US" sz="36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Railway System</a:t>
            </a:r>
            <a:endParaRPr lang="en-US" sz="4000">
              <a:solidFill>
                <a:srgbClr val="C00000"/>
              </a:solidFill>
            </a:endParaRPr>
          </a:p>
        </p:txBody>
      </p:sp>
      <p:sp>
        <p:nvSpPr>
          <p:cNvPr id="3" name="Content Placeholder 2"/>
          <p:cNvSpPr>
            <a:spLocks noGrp="1"/>
          </p:cNvSpPr>
          <p:nvPr>
            <p:ph idx="1"/>
          </p:nvPr>
        </p:nvSpPr>
        <p:spPr>
          <a:xfrm>
            <a:off x="296545" y="1136015"/>
            <a:ext cx="11708130" cy="5253355"/>
          </a:xfrm>
        </p:spPr>
        <p:txBody>
          <a:bodyPr>
            <a:normAutofit/>
          </a:bodyPr>
          <a:p>
            <a:pPr>
              <a:lnSpc>
                <a:spcPct val="140000"/>
              </a:lnSpc>
            </a:pPr>
            <a:r>
              <a:rPr lang="en-US" sz="3600">
                <a:solidFill>
                  <a:srgbClr val="E3517A"/>
                </a:solidFill>
              </a:rPr>
              <a:t>Add the above generic code to the current code</a:t>
            </a:r>
            <a:endParaRPr lang="en-US" sz="3600">
              <a:solidFill>
                <a:srgbClr val="002060"/>
              </a:solidFill>
            </a:endParaRPr>
          </a:p>
          <a:p>
            <a:pPr>
              <a:lnSpc>
                <a:spcPct val="140000"/>
              </a:lnSpc>
            </a:pPr>
            <a:r>
              <a:rPr lang="en-US" sz="3600">
                <a:solidFill>
                  <a:srgbClr val="00B050"/>
                </a:solidFill>
              </a:rPr>
              <a:t>What are Collections used in this code</a:t>
            </a:r>
            <a:endParaRPr lang="en-US" sz="3600">
              <a:solidFill>
                <a:srgbClr val="00B050"/>
              </a:solidFill>
            </a:endParaRPr>
          </a:p>
          <a:p>
            <a:pPr>
              <a:lnSpc>
                <a:spcPct val="140000"/>
              </a:lnSpc>
            </a:pPr>
            <a:r>
              <a:rPr lang="en-US" sz="3600">
                <a:solidFill>
                  <a:srgbClr val="002060"/>
                </a:solidFill>
              </a:rPr>
              <a:t>ArrayList, List, List.of, Collections.synchronizedList, Collections.unmodifiableList, Map, ConcurrentHashMap, and List.copyOf</a:t>
            </a:r>
            <a:endParaRPr lang="en-US" sz="36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Railway System</a:t>
            </a:r>
            <a:endParaRPr lang="en-US" sz="4000">
              <a:solidFill>
                <a:srgbClr val="C00000"/>
              </a:solidFill>
            </a:endParaRPr>
          </a:p>
        </p:txBody>
      </p:sp>
      <p:sp>
        <p:nvSpPr>
          <p:cNvPr id="3" name="Content Placeholder 2"/>
          <p:cNvSpPr>
            <a:spLocks noGrp="1"/>
          </p:cNvSpPr>
          <p:nvPr>
            <p:ph idx="1"/>
          </p:nvPr>
        </p:nvSpPr>
        <p:spPr>
          <a:xfrm>
            <a:off x="296545" y="1136015"/>
            <a:ext cx="11708130" cy="5253355"/>
          </a:xfrm>
        </p:spPr>
        <p:txBody>
          <a:bodyPr>
            <a:normAutofit/>
          </a:bodyPr>
          <a:p>
            <a:pPr>
              <a:lnSpc>
                <a:spcPct val="140000"/>
              </a:lnSpc>
            </a:pPr>
            <a:r>
              <a:rPr lang="en-US" sz="3600">
                <a:solidFill>
                  <a:srgbClr val="E3517A"/>
                </a:solidFill>
              </a:rPr>
              <a:t>Add code to store the required details of the railway system into a database</a:t>
            </a:r>
            <a:endParaRPr lang="en-US" sz="3600">
              <a:solidFill>
                <a:srgbClr val="002060"/>
              </a:solidFill>
            </a:endParaRPr>
          </a:p>
          <a:p>
            <a:pPr>
              <a:lnSpc>
                <a:spcPct val="140000"/>
              </a:lnSpc>
            </a:pPr>
            <a:r>
              <a:rPr lang="en-US" sz="3600">
                <a:solidFill>
                  <a:srgbClr val="002060"/>
                </a:solidFill>
              </a:rPr>
              <a:t>By default creates DB with SQLite</a:t>
            </a:r>
            <a:endParaRPr lang="en-US" sz="3600">
              <a:solidFill>
                <a:srgbClr val="002060"/>
              </a:solidFill>
            </a:endParaRPr>
          </a:p>
          <a:p>
            <a:pPr>
              <a:lnSpc>
                <a:spcPct val="140000"/>
              </a:lnSpc>
            </a:pPr>
            <a:r>
              <a:rPr lang="en-US" sz="3600">
                <a:solidFill>
                  <a:srgbClr val="E3517A"/>
                </a:solidFill>
              </a:rPr>
              <a:t>We can prompt to create DB in MySQL or any other DB</a:t>
            </a:r>
            <a:endParaRPr lang="en-US" sz="3600">
              <a:solidFill>
                <a:srgbClr val="E3517A"/>
              </a:solidFill>
            </a:endParaRPr>
          </a:p>
          <a:p>
            <a:pPr>
              <a:lnSpc>
                <a:spcPct val="140000"/>
              </a:lnSpc>
            </a:pPr>
            <a:r>
              <a:rPr lang="en-US" sz="3600">
                <a:solidFill>
                  <a:srgbClr val="E3517A"/>
                </a:solidFill>
              </a:rPr>
              <a:t>Add menu driven code for user to book tickets and view status</a:t>
            </a:r>
            <a:endParaRPr lang="en-US" sz="3600">
              <a:solidFill>
                <a:srgbClr val="E3517A"/>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Case Study ML </a:t>
            </a:r>
            <a:endParaRPr lang="en-US" sz="4000">
              <a:solidFill>
                <a:srgbClr val="C00000"/>
              </a:solidFill>
            </a:endParaRPr>
          </a:p>
        </p:txBody>
      </p:sp>
      <p:sp>
        <p:nvSpPr>
          <p:cNvPr id="3" name="Content Placeholder 2"/>
          <p:cNvSpPr>
            <a:spLocks noGrp="1"/>
          </p:cNvSpPr>
          <p:nvPr>
            <p:ph idx="1"/>
          </p:nvPr>
        </p:nvSpPr>
        <p:spPr>
          <a:xfrm>
            <a:off x="296545" y="1136015"/>
            <a:ext cx="11708130" cy="5253355"/>
          </a:xfrm>
        </p:spPr>
        <p:txBody>
          <a:bodyPr>
            <a:normAutofit lnSpcReduction="20000"/>
          </a:bodyPr>
          <a:p>
            <a:pPr>
              <a:lnSpc>
                <a:spcPct val="140000"/>
              </a:lnSpc>
            </a:pPr>
            <a:r>
              <a:rPr lang="en-US" sz="3600">
                <a:solidFill>
                  <a:srgbClr val="11AD57"/>
                </a:solidFill>
              </a:rPr>
              <a:t>Explain the dataset in student-por.csv</a:t>
            </a:r>
            <a:endParaRPr lang="en-US" sz="3600">
              <a:solidFill>
                <a:srgbClr val="11AD57"/>
              </a:solidFill>
            </a:endParaRPr>
          </a:p>
          <a:p>
            <a:pPr>
              <a:lnSpc>
                <a:spcPct val="140000"/>
              </a:lnSpc>
            </a:pPr>
            <a:r>
              <a:rPr lang="en-US" sz="3600">
                <a:solidFill>
                  <a:srgbClr val="E3517A"/>
                </a:solidFill>
              </a:rPr>
              <a:t>Generate code to do logistic regression on student-por.csv without preprocessing and give the accracy</a:t>
            </a:r>
            <a:endParaRPr lang="en-US" sz="3600">
              <a:solidFill>
                <a:srgbClr val="E3517A"/>
              </a:solidFill>
            </a:endParaRPr>
          </a:p>
          <a:p>
            <a:pPr>
              <a:lnSpc>
                <a:spcPct val="140000"/>
              </a:lnSpc>
            </a:pPr>
            <a:r>
              <a:rPr lang="en-US" sz="3600">
                <a:solidFill>
                  <a:srgbClr val="002060"/>
                </a:solidFill>
              </a:rPr>
              <a:t>90%</a:t>
            </a:r>
            <a:endParaRPr lang="en-US" sz="3600">
              <a:solidFill>
                <a:srgbClr val="002060"/>
              </a:solidFill>
            </a:endParaRPr>
          </a:p>
          <a:p>
            <a:pPr>
              <a:lnSpc>
                <a:spcPct val="140000"/>
              </a:lnSpc>
            </a:pPr>
            <a:r>
              <a:rPr lang="en-US" sz="3600">
                <a:solidFill>
                  <a:srgbClr val="11AD57"/>
                </a:solidFill>
              </a:rPr>
              <a:t>Can you rewrite the code to have lesser accuracy? I want to give this code to the students and make them to understand how to make it better</a:t>
            </a:r>
            <a:endParaRPr lang="en-US" sz="3600">
              <a:solidFill>
                <a:srgbClr val="11AD57"/>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Case Study ML </a:t>
            </a:r>
            <a:endParaRPr lang="en-US" sz="4000">
              <a:solidFill>
                <a:srgbClr val="C00000"/>
              </a:solidFill>
            </a:endParaRPr>
          </a:p>
        </p:txBody>
      </p:sp>
      <p:sp>
        <p:nvSpPr>
          <p:cNvPr id="3" name="Content Placeholder 2"/>
          <p:cNvSpPr>
            <a:spLocks noGrp="1"/>
          </p:cNvSpPr>
          <p:nvPr>
            <p:ph idx="1"/>
          </p:nvPr>
        </p:nvSpPr>
        <p:spPr>
          <a:xfrm>
            <a:off x="296545" y="1136015"/>
            <a:ext cx="11708130" cy="5608320"/>
          </a:xfrm>
        </p:spPr>
        <p:txBody>
          <a:bodyPr>
            <a:noAutofit/>
          </a:bodyPr>
          <a:p>
            <a:pPr>
              <a:lnSpc>
                <a:spcPct val="140000"/>
              </a:lnSpc>
            </a:pPr>
            <a:r>
              <a:rPr lang="en-US" sz="3600">
                <a:solidFill>
                  <a:srgbClr val="002060"/>
                </a:solidFill>
              </a:rPr>
              <a:t>Attributes G1 and G2 were dropped in the code and accuracy dropped to 76.92</a:t>
            </a:r>
            <a:endParaRPr lang="en-US" sz="3600">
              <a:solidFill>
                <a:srgbClr val="11AD57"/>
              </a:solidFill>
            </a:endParaRPr>
          </a:p>
          <a:p>
            <a:pPr>
              <a:lnSpc>
                <a:spcPct val="140000"/>
              </a:lnSpc>
            </a:pPr>
            <a:r>
              <a:rPr lang="en-US" sz="3600">
                <a:solidFill>
                  <a:srgbClr val="11AD57"/>
                </a:solidFill>
              </a:rPr>
              <a:t>What changes students should make to get accuracy above </a:t>
            </a:r>
            <a:endParaRPr lang="en-US" sz="3600">
              <a:solidFill>
                <a:srgbClr val="E3517A"/>
              </a:solidFill>
            </a:endParaRPr>
          </a:p>
          <a:p>
            <a:pPr>
              <a:lnSpc>
                <a:spcPct val="140000"/>
              </a:lnSpc>
            </a:pPr>
            <a:r>
              <a:rPr lang="en-US" sz="3600">
                <a:solidFill>
                  <a:srgbClr val="002060"/>
                </a:solidFill>
              </a:rPr>
              <a:t>Short recipe for “aim for &gt;95%”: include G1 and G2, use one-hot (or similar) for categoricals, optionally scale numerics, tune C, and evaluate with CV plus metrics beyond accuracy.</a:t>
            </a:r>
            <a:endParaRPr lang="en-US" sz="3600">
              <a:solidFill>
                <a:srgbClr val="002060"/>
              </a:solidFill>
            </a:endParaRPr>
          </a:p>
          <a:p>
            <a:pPr>
              <a:lnSpc>
                <a:spcPct val="140000"/>
              </a:lnSpc>
            </a:pPr>
            <a:endParaRPr lang="en-US" sz="3600">
              <a:solidFill>
                <a:srgbClr val="11AD57"/>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Case Study ML </a:t>
            </a:r>
            <a:endParaRPr lang="en-US" sz="4000">
              <a:solidFill>
                <a:srgbClr val="C00000"/>
              </a:solidFill>
            </a:endParaRPr>
          </a:p>
        </p:txBody>
      </p:sp>
      <p:sp>
        <p:nvSpPr>
          <p:cNvPr id="3" name="Content Placeholder 2"/>
          <p:cNvSpPr>
            <a:spLocks noGrp="1"/>
          </p:cNvSpPr>
          <p:nvPr>
            <p:ph idx="1"/>
          </p:nvPr>
        </p:nvSpPr>
        <p:spPr>
          <a:xfrm>
            <a:off x="296545" y="1136015"/>
            <a:ext cx="11708130" cy="5608320"/>
          </a:xfrm>
        </p:spPr>
        <p:txBody>
          <a:bodyPr>
            <a:noAutofit/>
          </a:bodyPr>
          <a:p>
            <a:pPr>
              <a:lnSpc>
                <a:spcPct val="140000"/>
              </a:lnSpc>
            </a:pPr>
            <a:r>
              <a:rPr lang="en-US" sz="3600">
                <a:solidFill>
                  <a:srgbClr val="E3517A"/>
                </a:solidFill>
              </a:rPr>
              <a:t>Do not change logistic_regression_student.py file, create a new file make the suggested changes and check if accuracy can be brought above 95%</a:t>
            </a:r>
            <a:endParaRPr lang="en-US" sz="3600">
              <a:solidFill>
                <a:srgbClr val="002060"/>
              </a:solidFill>
            </a:endParaRPr>
          </a:p>
          <a:p>
            <a:pPr>
              <a:lnSpc>
                <a:spcPct val="140000"/>
              </a:lnSpc>
            </a:pPr>
            <a:r>
              <a:rPr lang="en-US" sz="3600">
                <a:solidFill>
                  <a:srgbClr val="002060"/>
                </a:solidFill>
              </a:rPr>
              <a:t>So yes: accuracy is above 95% with this pipeline and split.</a:t>
            </a:r>
            <a:endParaRPr lang="en-US" sz="3600">
              <a:solidFill>
                <a:srgbClr val="002060"/>
              </a:solidFill>
            </a:endParaRPr>
          </a:p>
          <a:p>
            <a:pPr>
              <a:lnSpc>
                <a:spcPct val="140000"/>
              </a:lnSpc>
            </a:pPr>
            <a:r>
              <a:rPr lang="en-US" sz="3600">
                <a:solidFill>
                  <a:srgbClr val="002060"/>
                </a:solidFill>
              </a:rPr>
              <a:t>Teaching note (also in the file’s docstring): With the same code but random_state=42, hold-out accuracy is only about 91–92% because a single split is noisy. </a:t>
            </a:r>
            <a:endParaRPr lang="en-US" sz="3600">
              <a:solidFill>
                <a:srgbClr val="002060"/>
              </a:solidFill>
            </a:endParaRPr>
          </a:p>
          <a:p>
            <a:pPr>
              <a:lnSpc>
                <a:spcPct val="140000"/>
              </a:lnSpc>
            </a:pPr>
            <a:endParaRPr lang="en-US" sz="3600">
              <a:solidFill>
                <a:srgbClr val="11AD57"/>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Case Study ML </a:t>
            </a:r>
            <a:endParaRPr lang="en-US" sz="4000">
              <a:solidFill>
                <a:srgbClr val="C00000"/>
              </a:solidFill>
            </a:endParaRPr>
          </a:p>
        </p:txBody>
      </p:sp>
      <p:sp>
        <p:nvSpPr>
          <p:cNvPr id="3" name="Content Placeholder 2"/>
          <p:cNvSpPr>
            <a:spLocks noGrp="1"/>
          </p:cNvSpPr>
          <p:nvPr>
            <p:ph idx="1"/>
          </p:nvPr>
        </p:nvSpPr>
        <p:spPr>
          <a:xfrm>
            <a:off x="296545" y="1136015"/>
            <a:ext cx="11708130" cy="5608320"/>
          </a:xfrm>
        </p:spPr>
        <p:txBody>
          <a:bodyPr>
            <a:noAutofit/>
          </a:bodyPr>
          <a:p>
            <a:pPr>
              <a:lnSpc>
                <a:spcPct val="140000"/>
              </a:lnSpc>
            </a:pPr>
            <a:r>
              <a:rPr lang="en-US" sz="3600">
                <a:solidFill>
                  <a:srgbClr val="002060"/>
                </a:solidFill>
              </a:rPr>
              <a:t>The improved modeling (grades + one-hot + scaling + tuned C) is what makes 95%+ possible; the chosen seed only picks a test set where that shows up clearly. For grading, stress cross-validation or multiple seeds so students don’t tune the split to look good.</a:t>
            </a:r>
            <a:endParaRPr lang="en-US" sz="3600">
              <a:solidFill>
                <a:srgbClr val="002060"/>
              </a:solidFill>
            </a:endParaRPr>
          </a:p>
          <a:p>
            <a:pPr>
              <a:lnSpc>
                <a:spcPct val="140000"/>
              </a:lnSpc>
            </a:pPr>
            <a:endParaRPr lang="en-US" sz="3600">
              <a:solidFill>
                <a:srgbClr val="11AD57"/>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Case Study ML </a:t>
            </a:r>
            <a:endParaRPr lang="en-US" sz="4000">
              <a:solidFill>
                <a:srgbClr val="C00000"/>
              </a:solidFill>
            </a:endParaRPr>
          </a:p>
        </p:txBody>
      </p:sp>
      <p:sp>
        <p:nvSpPr>
          <p:cNvPr id="3" name="Content Placeholder 2"/>
          <p:cNvSpPr>
            <a:spLocks noGrp="1"/>
          </p:cNvSpPr>
          <p:nvPr>
            <p:ph idx="1"/>
          </p:nvPr>
        </p:nvSpPr>
        <p:spPr>
          <a:xfrm>
            <a:off x="296545" y="1136015"/>
            <a:ext cx="11708130" cy="5608320"/>
          </a:xfrm>
        </p:spPr>
        <p:txBody>
          <a:bodyPr>
            <a:noAutofit/>
          </a:bodyPr>
          <a:p>
            <a:pPr>
              <a:lnSpc>
                <a:spcPct val="140000"/>
              </a:lnSpc>
            </a:pPr>
            <a:r>
              <a:rPr lang="en-US" sz="3600">
                <a:solidFill>
                  <a:srgbClr val="11AD57"/>
                </a:solidFill>
              </a:rPr>
              <a:t>Give a test case failure for the model in logistic_regression_student_por.py and show that the model is underfitting</a:t>
            </a:r>
            <a:endParaRPr lang="en-US" sz="3600">
              <a:solidFill>
                <a:srgbClr val="11AD57"/>
              </a:solidFill>
            </a:endParaRPr>
          </a:p>
          <a:p>
            <a:pPr>
              <a:lnSpc>
                <a:spcPct val="140000"/>
              </a:lnSpc>
            </a:pPr>
            <a:r>
              <a:rPr lang="en-US" sz="3600">
                <a:solidFill>
                  <a:srgbClr val="002060"/>
                </a:solidFill>
              </a:rPr>
              <a:t>Failure instance: e.g. index 552, true pass vs predicted fail. Feature importance can also be shown</a:t>
            </a:r>
            <a:endParaRPr lang="en-US" sz="36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Case Study ML </a:t>
            </a:r>
            <a:endParaRPr lang="en-US" sz="4000">
              <a:solidFill>
                <a:srgbClr val="C00000"/>
              </a:solidFill>
            </a:endParaRPr>
          </a:p>
        </p:txBody>
      </p:sp>
      <p:sp>
        <p:nvSpPr>
          <p:cNvPr id="3" name="Content Placeholder 2"/>
          <p:cNvSpPr>
            <a:spLocks noGrp="1"/>
          </p:cNvSpPr>
          <p:nvPr>
            <p:ph idx="1"/>
          </p:nvPr>
        </p:nvSpPr>
        <p:spPr>
          <a:xfrm>
            <a:off x="296545" y="1136015"/>
            <a:ext cx="11708130" cy="5608320"/>
          </a:xfrm>
        </p:spPr>
        <p:txBody>
          <a:bodyPr>
            <a:noAutofit/>
          </a:bodyPr>
          <a:p>
            <a:pPr>
              <a:lnSpc>
                <a:spcPct val="140000"/>
              </a:lnSpc>
            </a:pPr>
            <a:r>
              <a:rPr lang="en-US" sz="3600">
                <a:solidFill>
                  <a:srgbClr val="11AD57"/>
                </a:solidFill>
              </a:rPr>
              <a:t>Can you suggest a better model to be used to solve this problem?</a:t>
            </a:r>
            <a:endParaRPr lang="en-US" sz="3600">
              <a:solidFill>
                <a:srgbClr val="11AD57"/>
              </a:solidFill>
            </a:endParaRPr>
          </a:p>
          <a:p>
            <a:pPr>
              <a:lnSpc>
                <a:spcPct val="140000"/>
              </a:lnSpc>
            </a:pPr>
            <a:r>
              <a:rPr lang="en-US" sz="3600">
                <a:solidFill>
                  <a:srgbClr val="002060"/>
                </a:solidFill>
              </a:rPr>
              <a:t>Listed down models with boosting and randomforest</a:t>
            </a:r>
            <a:endParaRPr lang="en-US" sz="3600">
              <a:solidFill>
                <a:srgbClr val="11AD57"/>
              </a:solidFill>
            </a:endParaRPr>
          </a:p>
          <a:p>
            <a:pPr>
              <a:lnSpc>
                <a:spcPct val="140000"/>
              </a:lnSpc>
            </a:pPr>
            <a:r>
              <a:rPr lang="en-US" sz="3600">
                <a:solidFill>
                  <a:srgbClr val="E3517A"/>
                </a:solidFill>
              </a:rPr>
              <a:t>Generate code to use randomforest classifier to solve this problem. Identify the performance and compare with logistic regression</a:t>
            </a:r>
            <a:endParaRPr lang="en-US" sz="3600">
              <a:solidFill>
                <a:srgbClr val="E3517A"/>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Case Study ML </a:t>
            </a:r>
            <a:endParaRPr lang="en-US" sz="4000">
              <a:solidFill>
                <a:srgbClr val="C00000"/>
              </a:solidFill>
            </a:endParaRPr>
          </a:p>
        </p:txBody>
      </p:sp>
      <p:sp>
        <p:nvSpPr>
          <p:cNvPr id="3" name="Content Placeholder 2"/>
          <p:cNvSpPr>
            <a:spLocks noGrp="1"/>
          </p:cNvSpPr>
          <p:nvPr>
            <p:ph idx="1"/>
          </p:nvPr>
        </p:nvSpPr>
        <p:spPr>
          <a:xfrm>
            <a:off x="296545" y="1136015"/>
            <a:ext cx="11708130" cy="5608320"/>
          </a:xfrm>
        </p:spPr>
        <p:txBody>
          <a:bodyPr>
            <a:noAutofit/>
          </a:bodyPr>
          <a:p>
            <a:pPr>
              <a:lnSpc>
                <a:spcPct val="140000"/>
              </a:lnSpc>
            </a:pPr>
            <a:r>
              <a:rPr lang="en-US" sz="3600">
                <a:solidFill>
                  <a:srgbClr val="002060"/>
                </a:solidFill>
              </a:rPr>
              <a:t>Features: All columns except G3 (so G1 and G2 are included).</a:t>
            </a:r>
            <a:endParaRPr lang="en-US" sz="3600">
              <a:solidFill>
                <a:srgbClr val="002060"/>
              </a:solidFill>
            </a:endParaRPr>
          </a:p>
          <a:p>
            <a:pPr>
              <a:lnSpc>
                <a:spcPct val="140000"/>
              </a:lnSpc>
            </a:pPr>
            <a:r>
              <a:rPr lang="en-US" sz="3600">
                <a:solidFill>
                  <a:srgbClr val="002060"/>
                </a:solidFill>
              </a:rPr>
              <a:t>Preprocessing (same for both models): ColumnTransformer with one-hot categoricals (handle_unknown="ignore") and standardized numeric columns.</a:t>
            </a:r>
            <a:endParaRPr lang="en-US" sz="3600">
              <a:solidFill>
                <a:srgbClr val="002060"/>
              </a:solidFill>
            </a:endParaRPr>
          </a:p>
          <a:p>
            <a:pPr>
              <a:lnSpc>
                <a:spcPct val="140000"/>
              </a:lnSpc>
            </a:pPr>
            <a:r>
              <a:rPr lang="en-US" sz="3600">
                <a:solidFill>
                  <a:srgbClr val="002060"/>
                </a:solidFill>
              </a:rPr>
              <a:t>Split: 80% train / 20% test, stratified, random_state=42.</a:t>
            </a:r>
            <a:endParaRPr lang="en-US" sz="3600">
              <a:solidFill>
                <a:srgbClr val="002060"/>
              </a:solidFill>
            </a:endParaRPr>
          </a:p>
          <a:p>
            <a:pPr>
              <a:lnSpc>
                <a:spcPct val="140000"/>
              </a:lnSpc>
            </a:pPr>
            <a:endParaRPr lang="en-US" sz="3600">
              <a:solidFill>
                <a:srgbClr val="E3517A"/>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Case Study ML </a:t>
            </a:r>
            <a:endParaRPr lang="en-US" sz="4000">
              <a:solidFill>
                <a:srgbClr val="C00000"/>
              </a:solidFill>
            </a:endParaRPr>
          </a:p>
        </p:txBody>
      </p:sp>
      <p:sp>
        <p:nvSpPr>
          <p:cNvPr id="3" name="Content Placeholder 2"/>
          <p:cNvSpPr>
            <a:spLocks noGrp="1"/>
          </p:cNvSpPr>
          <p:nvPr>
            <p:ph idx="1"/>
          </p:nvPr>
        </p:nvSpPr>
        <p:spPr>
          <a:xfrm>
            <a:off x="296545" y="1136015"/>
            <a:ext cx="11708130" cy="5608320"/>
          </a:xfrm>
        </p:spPr>
        <p:txBody>
          <a:bodyPr>
            <a:noAutofit/>
          </a:bodyPr>
          <a:p>
            <a:pPr>
              <a:lnSpc>
                <a:spcPct val="140000"/>
              </a:lnSpc>
            </a:pPr>
            <a:r>
              <a:rPr lang="en-US" sz="3600">
                <a:solidFill>
                  <a:srgbClr val="002060"/>
                </a:solidFill>
              </a:rPr>
              <a:t>Models: LogisticRegression(max_iter=10000, solver="lbfgs") vs RandomForestClassifier(n_estimators=300).</a:t>
            </a:r>
            <a:endParaRPr lang="en-US" sz="3600">
              <a:solidFill>
                <a:srgbClr val="002060"/>
              </a:solidFill>
            </a:endParaRPr>
          </a:p>
          <a:p>
            <a:pPr>
              <a:lnSpc>
                <a:spcPct val="140000"/>
              </a:lnSpc>
            </a:pPr>
            <a:r>
              <a:rPr lang="en-US" sz="3600">
                <a:solidFill>
                  <a:srgbClr val="002060"/>
                </a:solidFill>
              </a:rPr>
              <a:t>Metrics printed: accuracy, ROC-AUC, and classification_report (precision / recall / F1 per class).</a:t>
            </a:r>
            <a:endParaRPr lang="en-US" sz="3600">
              <a:solidFill>
                <a:srgbClr val="002060"/>
              </a:solidFill>
            </a:endParaRPr>
          </a:p>
          <a:p>
            <a:pPr>
              <a:lnSpc>
                <a:spcPct val="140000"/>
              </a:lnSpc>
            </a:pPr>
            <a:endParaRPr lang="en-US" sz="3600">
              <a:solidFill>
                <a:srgbClr val="E3517A"/>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87630"/>
            <a:ext cx="10515600" cy="1049020"/>
          </a:xfrm>
        </p:spPr>
        <p:txBody>
          <a:bodyPr/>
          <a:p>
            <a:pPr algn="ctr"/>
            <a:r>
              <a:rPr lang="en-US" sz="4000">
                <a:solidFill>
                  <a:srgbClr val="C00000"/>
                </a:solidFill>
              </a:rPr>
              <a:t>Case Study ML </a:t>
            </a:r>
            <a:endParaRPr lang="en-US" sz="4000">
              <a:solidFill>
                <a:srgbClr val="C00000"/>
              </a:solidFill>
            </a:endParaRPr>
          </a:p>
        </p:txBody>
      </p:sp>
      <p:sp>
        <p:nvSpPr>
          <p:cNvPr id="3" name="Content Placeholder 2"/>
          <p:cNvSpPr>
            <a:spLocks noGrp="1"/>
          </p:cNvSpPr>
          <p:nvPr>
            <p:ph idx="1"/>
          </p:nvPr>
        </p:nvSpPr>
        <p:spPr>
          <a:xfrm>
            <a:off x="296545" y="1136015"/>
            <a:ext cx="11708130" cy="5608320"/>
          </a:xfrm>
        </p:spPr>
        <p:txBody>
          <a:bodyPr>
            <a:noAutofit/>
          </a:bodyPr>
          <a:p>
            <a:pPr>
              <a:lnSpc>
                <a:spcPct val="140000"/>
              </a:lnSpc>
            </a:pPr>
            <a:r>
              <a:rPr lang="en-US" sz="3600">
                <a:solidFill>
                  <a:srgbClr val="002060"/>
                </a:solidFill>
              </a:rPr>
              <a:t>So on this single split, logistic regression is slightly better on accuracy; random forest is a bit better on ROC-AUC (ranking of predicted probabilities). With only 649 rows, which model “wins” can change if you change the seed or tune the forest (max_depth, min_samples_leaf, class_weight for the rare “fail” class).</a:t>
            </a:r>
            <a:endParaRPr lang="en-US" sz="36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16510"/>
            <a:ext cx="10515600" cy="1049020"/>
          </a:xfrm>
        </p:spPr>
        <p:txBody>
          <a:bodyPr/>
          <a:p>
            <a:pPr algn="ctr"/>
            <a:r>
              <a:rPr lang="en-US" sz="4000">
                <a:solidFill>
                  <a:srgbClr val="C00000"/>
                </a:solidFill>
              </a:rPr>
              <a:t>Case Study ML </a:t>
            </a:r>
            <a:endParaRPr lang="en-US" sz="4000">
              <a:solidFill>
                <a:srgbClr val="C00000"/>
              </a:solidFill>
            </a:endParaRPr>
          </a:p>
        </p:txBody>
      </p:sp>
      <p:sp>
        <p:nvSpPr>
          <p:cNvPr id="3" name="Content Placeholder 2"/>
          <p:cNvSpPr>
            <a:spLocks noGrp="1"/>
          </p:cNvSpPr>
          <p:nvPr>
            <p:ph idx="1"/>
          </p:nvPr>
        </p:nvSpPr>
        <p:spPr>
          <a:xfrm>
            <a:off x="124460" y="840740"/>
            <a:ext cx="11987530" cy="5801995"/>
          </a:xfrm>
        </p:spPr>
        <p:txBody>
          <a:bodyPr>
            <a:noAutofit/>
          </a:bodyPr>
          <a:p>
            <a:pPr>
              <a:lnSpc>
                <a:spcPct val="130000"/>
              </a:lnSpc>
            </a:pPr>
            <a:r>
              <a:rPr lang="en-US" sz="3600">
                <a:solidFill>
                  <a:srgbClr val="E3517A"/>
                </a:solidFill>
              </a:rPr>
              <a:t>Try changing the seed to make random forest to do better</a:t>
            </a:r>
            <a:endParaRPr lang="en-US" sz="3600">
              <a:solidFill>
                <a:srgbClr val="E3517A"/>
              </a:solidFill>
            </a:endParaRPr>
          </a:p>
          <a:p>
            <a:pPr>
              <a:lnSpc>
                <a:spcPct val="130000"/>
              </a:lnSpc>
            </a:pPr>
            <a:r>
              <a:rPr lang="en-US" sz="3600">
                <a:solidFill>
                  <a:srgbClr val="002060"/>
                </a:solidFill>
              </a:rPr>
              <a:t>Set RANDOM_STATE = 19 (was 42) and noted in a short comment that 42 made logistic look better on the hold-out, while 19 favors the forest on this split.</a:t>
            </a:r>
            <a:endParaRPr lang="en-US" sz="3600">
              <a:solidFill>
                <a:srgbClr val="002060"/>
              </a:solidFill>
            </a:endParaRPr>
          </a:p>
          <a:p>
            <a:pPr>
              <a:lnSpc>
                <a:spcPct val="130000"/>
              </a:lnSpc>
            </a:pPr>
            <a:r>
              <a:rPr lang="en-US" sz="3600">
                <a:solidFill>
                  <a:srgbClr val="002060"/>
                </a:solidFill>
              </a:rPr>
              <a:t>Teaching note: Different splits change who “wins.” This seed was found by scanning splits where RF beat logistic; for a fair, stable comparison, use cross-validation or nested CV instead of tuning the split to favor one model.</a:t>
            </a:r>
            <a:endParaRPr lang="en-US" sz="36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16510"/>
            <a:ext cx="10515600" cy="1049020"/>
          </a:xfrm>
        </p:spPr>
        <p:txBody>
          <a:bodyPr/>
          <a:p>
            <a:pPr algn="ctr"/>
            <a:r>
              <a:rPr lang="en-US" sz="4000">
                <a:solidFill>
                  <a:srgbClr val="C00000"/>
                </a:solidFill>
              </a:rPr>
              <a:t>Case Study ML </a:t>
            </a:r>
            <a:endParaRPr lang="en-US" sz="4000">
              <a:solidFill>
                <a:srgbClr val="C00000"/>
              </a:solidFill>
            </a:endParaRPr>
          </a:p>
        </p:txBody>
      </p:sp>
      <p:sp>
        <p:nvSpPr>
          <p:cNvPr id="3" name="Content Placeholder 2"/>
          <p:cNvSpPr>
            <a:spLocks noGrp="1"/>
          </p:cNvSpPr>
          <p:nvPr>
            <p:ph idx="1"/>
          </p:nvPr>
        </p:nvSpPr>
        <p:spPr>
          <a:xfrm>
            <a:off x="124460" y="840740"/>
            <a:ext cx="11987530" cy="5801995"/>
          </a:xfrm>
        </p:spPr>
        <p:txBody>
          <a:bodyPr>
            <a:noAutofit/>
          </a:bodyPr>
          <a:p>
            <a:pPr>
              <a:lnSpc>
                <a:spcPct val="120000"/>
              </a:lnSpc>
            </a:pPr>
            <a:r>
              <a:rPr lang="en-US" sz="3600">
                <a:solidFill>
                  <a:srgbClr val="E3517A"/>
                </a:solidFill>
              </a:rPr>
              <a:t>So we cannot conclude that LogisticRegression is the best classifier based on the results we obtained before?</a:t>
            </a:r>
            <a:endParaRPr lang="en-US" sz="3600">
              <a:solidFill>
                <a:srgbClr val="E3517A"/>
              </a:solidFill>
            </a:endParaRPr>
          </a:p>
          <a:p>
            <a:pPr>
              <a:lnSpc>
                <a:spcPct val="120000"/>
              </a:lnSpc>
            </a:pPr>
            <a:r>
              <a:rPr lang="en-US" sz="3600">
                <a:solidFill>
                  <a:srgbClr val="002060"/>
                </a:solidFill>
              </a:rPr>
              <a:t>Correct</a:t>
            </a:r>
            <a:endParaRPr lang="en-US" sz="3600">
              <a:solidFill>
                <a:srgbClr val="002060"/>
              </a:solidFill>
            </a:endParaRPr>
          </a:p>
          <a:p>
            <a:pPr>
              <a:lnSpc>
                <a:spcPct val="120000"/>
              </a:lnSpc>
            </a:pPr>
            <a:r>
              <a:rPr lang="en-US" sz="3600">
                <a:solidFill>
                  <a:srgbClr val="002060"/>
                </a:solidFill>
              </a:rPr>
              <a:t>One train/test split is unstable — With random_state=42, logistic had slightly higher accuracy on that single hold-out set. After changing the split (random_state=19), Random Forest had higher accuracy (and already had slightly higher ROC-AUC in the first run). </a:t>
            </a:r>
            <a:endParaRPr lang="en-US" sz="3600">
              <a:solidFill>
                <a:srgbClr val="002060"/>
              </a:solidFill>
            </a:endParaRPr>
          </a:p>
          <a:p>
            <a:pPr>
              <a:lnSpc>
                <a:spcPct val="120000"/>
              </a:lnSpc>
            </a:pPr>
            <a:endParaRPr lang="en-US" sz="36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16510"/>
            <a:ext cx="10515600" cy="1049020"/>
          </a:xfrm>
        </p:spPr>
        <p:txBody>
          <a:bodyPr/>
          <a:p>
            <a:pPr algn="ctr"/>
            <a:r>
              <a:rPr lang="en-US" sz="4000">
                <a:solidFill>
                  <a:srgbClr val="C00000"/>
                </a:solidFill>
              </a:rPr>
              <a:t>Case Study ML </a:t>
            </a:r>
            <a:endParaRPr lang="en-US" sz="4000">
              <a:solidFill>
                <a:srgbClr val="C00000"/>
              </a:solidFill>
            </a:endParaRPr>
          </a:p>
        </p:txBody>
      </p:sp>
      <p:sp>
        <p:nvSpPr>
          <p:cNvPr id="3" name="Content Placeholder 2"/>
          <p:cNvSpPr>
            <a:spLocks noGrp="1"/>
          </p:cNvSpPr>
          <p:nvPr>
            <p:ph idx="1"/>
          </p:nvPr>
        </p:nvSpPr>
        <p:spPr>
          <a:xfrm>
            <a:off x="124460" y="840740"/>
            <a:ext cx="11987530" cy="5801995"/>
          </a:xfrm>
        </p:spPr>
        <p:txBody>
          <a:bodyPr>
            <a:noAutofit/>
          </a:bodyPr>
          <a:p>
            <a:pPr>
              <a:lnSpc>
                <a:spcPct val="120000"/>
              </a:lnSpc>
            </a:pPr>
            <a:r>
              <a:rPr lang="en-US" sz="3600">
                <a:solidFill>
                  <a:srgbClr val="002060"/>
                </a:solidFill>
              </a:rPr>
              <a:t>Same code, same models; only the split changed. So the earlier outcome was not a general law about which algorithm wins on this dataset.</a:t>
            </a:r>
            <a:endParaRPr lang="en-US" sz="3600">
              <a:solidFill>
                <a:srgbClr val="002060"/>
              </a:solidFill>
            </a:endParaRPr>
          </a:p>
          <a:p>
            <a:pPr>
              <a:lnSpc>
                <a:spcPct val="120000"/>
              </a:lnSpc>
            </a:pPr>
            <a:r>
              <a:rPr lang="en-US" sz="3600">
                <a:solidFill>
                  <a:srgbClr val="002060"/>
                </a:solidFill>
              </a:rPr>
              <a:t>Small data — With ~649 rows, test metrics jump around more than with large samples. Cross-validation (and repeating with several seeds or reporting mean ± std) is the usual way to compare models without over-trusting one split.</a:t>
            </a:r>
            <a:endParaRPr lang="en-US" sz="36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16510"/>
            <a:ext cx="10515600" cy="1049020"/>
          </a:xfrm>
        </p:spPr>
        <p:txBody>
          <a:bodyPr/>
          <a:p>
            <a:pPr algn="ctr"/>
            <a:r>
              <a:rPr lang="en-US" sz="4000">
                <a:solidFill>
                  <a:srgbClr val="C00000"/>
                </a:solidFill>
              </a:rPr>
              <a:t>Case Study ML </a:t>
            </a:r>
            <a:endParaRPr lang="en-US" sz="4000">
              <a:solidFill>
                <a:srgbClr val="C00000"/>
              </a:solidFill>
            </a:endParaRPr>
          </a:p>
        </p:txBody>
      </p:sp>
      <p:sp>
        <p:nvSpPr>
          <p:cNvPr id="3" name="Content Placeholder 2"/>
          <p:cNvSpPr>
            <a:spLocks noGrp="1"/>
          </p:cNvSpPr>
          <p:nvPr>
            <p:ph idx="1"/>
          </p:nvPr>
        </p:nvSpPr>
        <p:spPr>
          <a:xfrm>
            <a:off x="124460" y="840740"/>
            <a:ext cx="11987530" cy="5801995"/>
          </a:xfrm>
        </p:spPr>
        <p:txBody>
          <a:bodyPr>
            <a:noAutofit/>
          </a:bodyPr>
          <a:p>
            <a:pPr>
              <a:lnSpc>
                <a:spcPct val="120000"/>
              </a:lnSpc>
            </a:pPr>
            <a:r>
              <a:rPr lang="en-US" sz="3600">
                <a:solidFill>
                  <a:srgbClr val="11AD57"/>
                </a:solidFill>
              </a:rPr>
              <a:t>What about precision, recall, RoC-AUC for random_state = 19</a:t>
            </a:r>
            <a:endParaRPr lang="en-US" sz="3600">
              <a:solidFill>
                <a:srgbClr val="11AD57"/>
              </a:solidFill>
            </a:endParaRPr>
          </a:p>
          <a:p>
            <a:pPr>
              <a:lnSpc>
                <a:spcPct val="120000"/>
              </a:lnSpc>
            </a:pPr>
            <a:r>
              <a:rPr lang="en-US" sz="3600">
                <a:solidFill>
                  <a:srgbClr val="002060"/>
                </a:solidFill>
              </a:rPr>
              <a:t>On this split, the forest is better on accuracy and ROC-AUC, with higher precision on passes and on predicted fails (no false positives in class 0 at 0.5 threshold), lower recall on fails than logistic’s recall on passes (0.70 vs 0.973 for pass recall on logistic). Random forest gets full recall (1.00) on the pass class for this test set.</a:t>
            </a:r>
            <a:endParaRPr lang="en-US" sz="36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1200" y="16510"/>
            <a:ext cx="10515600" cy="1049020"/>
          </a:xfrm>
        </p:spPr>
        <p:txBody>
          <a:bodyPr/>
          <a:p>
            <a:pPr algn="ctr"/>
            <a:r>
              <a:rPr lang="en-US" sz="4000">
                <a:solidFill>
                  <a:srgbClr val="C00000"/>
                </a:solidFill>
              </a:rPr>
              <a:t>Case Study ML </a:t>
            </a:r>
            <a:endParaRPr lang="en-US" sz="4000">
              <a:solidFill>
                <a:srgbClr val="C00000"/>
              </a:solidFill>
            </a:endParaRPr>
          </a:p>
        </p:txBody>
      </p:sp>
      <p:sp>
        <p:nvSpPr>
          <p:cNvPr id="3" name="Content Placeholder 2"/>
          <p:cNvSpPr>
            <a:spLocks noGrp="1"/>
          </p:cNvSpPr>
          <p:nvPr>
            <p:ph idx="1"/>
          </p:nvPr>
        </p:nvSpPr>
        <p:spPr>
          <a:xfrm>
            <a:off x="124460" y="840740"/>
            <a:ext cx="11987530" cy="5801995"/>
          </a:xfrm>
        </p:spPr>
        <p:txBody>
          <a:bodyPr>
            <a:noAutofit/>
          </a:bodyPr>
          <a:p>
            <a:pPr>
              <a:lnSpc>
                <a:spcPct val="120000"/>
              </a:lnSpc>
            </a:pPr>
            <a:r>
              <a:rPr lang="en-US" sz="3600" b="1">
                <a:gradFill>
                  <a:gsLst>
                    <a:gs pos="0">
                      <a:srgbClr val="7B32B2"/>
                    </a:gs>
                    <a:gs pos="100000">
                      <a:srgbClr val="401A5D"/>
                    </a:gs>
                  </a:gsLst>
                  <a:lin scaled="0"/>
                </a:gradFill>
              </a:rPr>
              <a:t>Random Forest behavior: </a:t>
            </a:r>
            <a:endParaRPr lang="en-US" sz="3600">
              <a:solidFill>
                <a:srgbClr val="002060"/>
              </a:solidFill>
            </a:endParaRPr>
          </a:p>
          <a:p>
            <a:pPr>
              <a:lnSpc>
                <a:spcPct val="120000"/>
              </a:lnSpc>
            </a:pPr>
            <a:r>
              <a:rPr lang="en-US" sz="3600">
                <a:solidFill>
                  <a:srgbClr val="002060"/>
                </a:solidFill>
              </a:rPr>
              <a:t>Very safe for PASS predictions</a:t>
            </a:r>
            <a:endParaRPr lang="en-US" sz="3600">
              <a:solidFill>
                <a:srgbClr val="002060"/>
              </a:solidFill>
            </a:endParaRPr>
          </a:p>
          <a:p>
            <a:pPr>
              <a:lnSpc>
                <a:spcPct val="120000"/>
              </a:lnSpc>
            </a:pPr>
            <a:r>
              <a:rPr lang="en-US" sz="3600">
                <a:solidFill>
                  <a:srgbClr val="002060"/>
                </a:solidFill>
              </a:rPr>
              <a:t>Never wrongly labels a passing student as failing</a:t>
            </a:r>
            <a:endParaRPr lang="en-US" sz="3600">
              <a:solidFill>
                <a:srgbClr val="002060"/>
              </a:solidFill>
            </a:endParaRPr>
          </a:p>
          <a:p>
            <a:pPr>
              <a:lnSpc>
                <a:spcPct val="120000"/>
              </a:lnSpc>
            </a:pPr>
            <a:r>
              <a:rPr lang="en-US" sz="3600">
                <a:solidFill>
                  <a:srgbClr val="002060"/>
                </a:solidFill>
              </a:rPr>
              <a:t>Slightly weak at catching all failing students</a:t>
            </a:r>
            <a:endParaRPr lang="en-US" sz="3600">
              <a:solidFill>
                <a:srgbClr val="002060"/>
              </a:solidFill>
            </a:endParaRPr>
          </a:p>
          <a:p>
            <a:pPr>
              <a:lnSpc>
                <a:spcPct val="120000"/>
              </a:lnSpc>
            </a:pPr>
            <a:r>
              <a:rPr lang="en-US" sz="3600" b="1">
                <a:gradFill>
                  <a:gsLst>
                    <a:gs pos="0">
                      <a:srgbClr val="7B32B2"/>
                    </a:gs>
                    <a:gs pos="100000">
                      <a:srgbClr val="401A5D"/>
                    </a:gs>
                  </a:gsLst>
                  <a:lin scaled="0"/>
                </a:gradFill>
              </a:rPr>
              <a:t>Logistic Regression behavior:</a:t>
            </a:r>
            <a:endParaRPr lang="en-US" sz="3600">
              <a:solidFill>
                <a:srgbClr val="002060"/>
              </a:solidFill>
            </a:endParaRPr>
          </a:p>
          <a:p>
            <a:pPr>
              <a:lnSpc>
                <a:spcPct val="120000"/>
              </a:lnSpc>
            </a:pPr>
            <a:r>
              <a:rPr lang="en-US" sz="3600">
                <a:solidFill>
                  <a:srgbClr val="002060"/>
                </a:solidFill>
              </a:rPr>
              <a:t>Very good at identifying PASS</a:t>
            </a:r>
            <a:endParaRPr lang="en-US" sz="3600">
              <a:solidFill>
                <a:srgbClr val="002060"/>
              </a:solidFill>
            </a:endParaRPr>
          </a:p>
          <a:p>
            <a:pPr>
              <a:lnSpc>
                <a:spcPct val="120000"/>
              </a:lnSpc>
            </a:pPr>
            <a:r>
              <a:rPr lang="en-US" sz="3600">
                <a:solidFill>
                  <a:srgbClr val="002060"/>
                </a:solidFill>
              </a:rPr>
              <a:t>But may make more mistakes overall</a:t>
            </a:r>
            <a:endParaRPr lang="en-US" sz="36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218440" y="0"/>
            <a:ext cx="11754485" cy="654748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15668</Words>
  <Application>WPS Presentation</Application>
  <PresentationFormat>宽屏</PresentationFormat>
  <Paragraphs>358</Paragraphs>
  <Slides>54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54</vt:i4>
      </vt:variant>
    </vt:vector>
  </HeadingPairs>
  <TitlesOfParts>
    <vt:vector size="65" baseType="lpstr">
      <vt:lpstr>Arial</vt:lpstr>
      <vt:lpstr>SimSun</vt:lpstr>
      <vt:lpstr>Wingdings</vt:lpstr>
      <vt:lpstr>Nimbus Roman No9 L</vt:lpstr>
      <vt:lpstr>Arial Black</vt:lpstr>
      <vt:lpstr>Microsoft YaHei</vt:lpstr>
      <vt:lpstr>Droid Sans Fallback</vt:lpstr>
      <vt:lpstr>Arial Unicode MS</vt:lpstr>
      <vt:lpstr>SimSun</vt:lpstr>
      <vt:lpstr>OpenSymbol</vt:lpstr>
      <vt:lpstr>Office Theme</vt:lpstr>
      <vt:lpstr>Strengthening Programming Skills through Problem-Solving and Case-Based Learning</vt:lpstr>
      <vt:lpstr>Tweaking Insertion Sort</vt:lpstr>
      <vt:lpstr>Tweaking Insertion Sort</vt:lpstr>
      <vt:lpstr>Tweaking Insertion Sort</vt:lpstr>
      <vt:lpstr>Tweaking Insertion Sort</vt:lpstr>
      <vt:lpstr>Tweaking Insertion Sort with ML</vt:lpstr>
      <vt:lpstr>Tweaking Insertion Sort with ML</vt:lpstr>
      <vt:lpstr>Tweaking Insertion Sort with ML</vt:lpstr>
      <vt:lpstr>Training on Misclassified Samples</vt:lpstr>
      <vt:lpstr>Base Problem (Standard ML Task)</vt:lpstr>
      <vt:lpstr>Finding Appropriate Dataset</vt:lpstr>
      <vt:lpstr>Finding Appropriate Dataset</vt:lpstr>
      <vt:lpstr>Identify Misclassified Samples</vt:lpstr>
      <vt:lpstr>Identify Misclassified Samples</vt:lpstr>
      <vt:lpstr>Identify Misclassified Samples</vt:lpstr>
      <vt:lpstr>Identify Misclassified Samples</vt:lpstr>
      <vt:lpstr>Identify Misclassified Samples</vt:lpstr>
      <vt:lpstr>Tweaked Problem</vt:lpstr>
      <vt:lpstr>Compare Results</vt:lpstr>
      <vt:lpstr>Ways to use hard examples that often help</vt:lpstr>
      <vt:lpstr>Ways to use hard examples that often help</vt:lpstr>
      <vt:lpstr>Ways to use hard examples that often help</vt:lpstr>
      <vt:lpstr>Ways to use hard examples that often help</vt:lpstr>
      <vt:lpstr>Ways to use hard examples that often help</vt:lpstr>
      <vt:lpstr>Ways to use hard examples that often help</vt:lpstr>
      <vt:lpstr>Case Study on OOP - Railway System</vt:lpstr>
      <vt:lpstr>Railway System</vt:lpstr>
      <vt:lpstr>Railway System</vt:lpstr>
      <vt:lpstr>Railway System</vt:lpstr>
      <vt:lpstr>Railway System</vt:lpstr>
      <vt:lpstr>Railway System</vt:lpstr>
      <vt:lpstr>Railway System</vt:lpstr>
      <vt:lpstr>Railway System</vt:lpstr>
      <vt:lpstr>Railway System</vt:lpstr>
      <vt:lpstr>Railway System</vt:lpstr>
      <vt:lpstr>Railway System</vt:lpstr>
      <vt:lpstr>Railway System</vt:lpstr>
      <vt:lpstr>Railway System</vt:lpstr>
      <vt:lpstr>Railway System</vt:lpstr>
      <vt:lpstr>Case Study ML </vt:lpstr>
      <vt:lpstr>Case Study ML </vt:lpstr>
      <vt:lpstr>Case Study ML </vt:lpstr>
      <vt:lpstr>Case Study ML </vt:lpstr>
      <vt:lpstr>Case Study ML </vt:lpstr>
      <vt:lpstr>Case Study ML </vt:lpstr>
      <vt:lpstr>Case Study ML </vt:lpstr>
      <vt:lpstr>Case Study ML </vt:lpstr>
      <vt:lpstr>Case Study ML </vt:lpstr>
      <vt:lpstr>Case Study ML </vt:lpstr>
      <vt:lpstr>Case Study ML </vt:lpstr>
      <vt:lpstr>Case Study ML </vt:lpstr>
      <vt:lpstr>Case Study ML </vt:lpstr>
      <vt:lpstr>Case Study ML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janaki</cp:lastModifiedBy>
  <cp:revision>194</cp:revision>
  <dcterms:created xsi:type="dcterms:W3CDTF">2026-05-06T03:45:20Z</dcterms:created>
  <dcterms:modified xsi:type="dcterms:W3CDTF">2026-05-06T03:45:20Z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1033-11.1.0.11723</vt:lpwstr>
  </property>
  <property fmtid="{D5CDD505-2E9C-101B-9397-08002B2CF9AE}" pid="3" name="ICV">
    <vt:lpwstr/>
  </property>
</Properties>
</file>